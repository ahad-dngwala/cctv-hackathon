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Poppins Light"/>
      <p:regular r:id="rId201314"/>
    </p:embeddedFont>
    <p:embeddedFont>
      <p:font typeface="Roboto Light"/>
      <p:regular r:id="rId201315"/>
    </p:embeddedFont>
    <p:embeddedFont>
      <p:font typeface="Roboto"/>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9191A"/>
          </a:solidFill>
          <a:ln/>
        </p:spPr>
      </p:sp>
      <p:sp>
        <p:nvSpPr>
          <p:cNvPr id="3" name="Shape 1"/>
          <p:cNvSpPr/>
          <p:nvPr/>
        </p:nvSpPr>
        <p:spPr>
          <a:xfrm>
            <a:off x="0" y="0"/>
            <a:ext cx="12191695" cy="6858000"/>
          </a:xfrm>
          <a:prstGeom prst="rect">
            <a:avLst/>
          </a:prstGeom>
          <a:solidFill>
            <a:srgbClr val="050505"/>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1.png"/><Relationship Id="rId4" Type="http://schemas.openxmlformats.org/officeDocument/2006/relationships/image" Target="../media/image-2-2.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5.png"/><Relationship Id="rId8" Type="http://schemas.openxmlformats.org/officeDocument/2006/relationships/image" Target="../media/image-2-6.sv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1.png"/><Relationship Id="rId4" Type="http://schemas.openxmlformats.org/officeDocument/2006/relationships/image" Target="../media/image-8-2.svg"/><Relationship Id="rId5" Type="http://schemas.openxmlformats.org/officeDocument/2006/relationships/image" Target="../media/image-8-1.png"/><Relationship Id="rId6" Type="http://schemas.openxmlformats.org/officeDocument/2006/relationships/image" Target="../media/image-8-2.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7.png"/><Relationship Id="rId10" Type="http://schemas.openxmlformats.org/officeDocument/2006/relationships/image" Target="../media/image-8-8.svg"/><Relationship Id="rId11" Type="http://schemas.openxmlformats.org/officeDocument/2006/relationships/image" Target="../media/image-8-11.png"/><Relationship Id="rId12" Type="http://schemas.openxmlformats.org/officeDocument/2006/relationships/slideLayout" Target="../slideLayouts/slideLayout2.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61475" y="1549202"/>
            <a:ext cx="2312334" cy="251420"/>
          </a:xfrm>
          <a:prstGeom prst="roundRect">
            <a:avLst>
              <a:gd name="adj" fmla="val 22103"/>
            </a:avLst>
          </a:prstGeom>
          <a:solidFill>
            <a:srgbClr val="252528"/>
          </a:solidFill>
          <a:ln/>
        </p:spPr>
      </p:sp>
      <p:sp>
        <p:nvSpPr>
          <p:cNvPr id="3" name="Text 1"/>
          <p:cNvSpPr/>
          <p:nvPr/>
        </p:nvSpPr>
        <p:spPr>
          <a:xfrm>
            <a:off x="760691" y="1598811"/>
            <a:ext cx="2723487" cy="152202"/>
          </a:xfrm>
          <a:prstGeom prst="rect">
            <a:avLst/>
          </a:prstGeom>
          <a:noFill/>
          <a:ln/>
        </p:spPr>
        <p:txBody>
          <a:bodyPr wrap="none" lIns="0" tIns="0" rIns="0" bIns="0" rtlCol="0" anchor="t"/>
          <a:lstStyle/>
          <a:p>
            <a:pPr algn="l" indent="0" marL="0">
              <a:lnSpc>
                <a:spcPct val="96000"/>
              </a:lnSpc>
              <a:buNone/>
            </a:pPr>
            <a:r>
              <a:rPr lang="en-US" sz="1000" dirty="0">
                <a:solidFill>
                  <a:srgbClr val="E5E0DF"/>
                </a:solidFill>
                <a:latin typeface="Roboto Light" pitchFamily="34" charset="0"/>
                <a:ea typeface="Roboto Light" pitchFamily="34" charset="-122"/>
                <a:cs typeface="Roboto Light" pitchFamily="34" charset="-120"/>
              </a:rPr>
              <a:t>GUJARAT STATE HACKATHON 2026</a:t>
            </a:r>
            <a:endParaRPr lang="en-US" sz="1000" dirty="0"/>
          </a:p>
        </p:txBody>
      </p:sp>
      <p:sp>
        <p:nvSpPr>
          <p:cNvPr id="4" name="Text 2"/>
          <p:cNvSpPr/>
          <p:nvPr/>
        </p:nvSpPr>
        <p:spPr>
          <a:xfrm>
            <a:off x="661475" y="1866702"/>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F2F2F3"/>
                </a:solidFill>
                <a:latin typeface="Poppins Light" pitchFamily="34" charset="0"/>
                <a:ea typeface="Poppins Light" pitchFamily="34" charset="-122"/>
                <a:cs typeface="Poppins Light" pitchFamily="34" charset="-120"/>
              </a:rPr>
              <a:t>EyesOnGuj</a:t>
            </a:r>
            <a:endParaRPr lang="en-US" sz="3250" dirty="0"/>
          </a:p>
        </p:txBody>
      </p:sp>
      <p:sp>
        <p:nvSpPr>
          <p:cNvPr id="5" name="Text 3"/>
          <p:cNvSpPr/>
          <p:nvPr/>
        </p:nvSpPr>
        <p:spPr>
          <a:xfrm>
            <a:off x="661475" y="2631480"/>
            <a:ext cx="10868745" cy="1426369"/>
          </a:xfrm>
          <a:prstGeom prst="rect">
            <a:avLst/>
          </a:prstGeom>
          <a:noFill/>
          <a:ln/>
        </p:spPr>
        <p:txBody>
          <a:bodyPr wrap="square" lIns="0" tIns="0" rIns="0" bIns="0" rtlCol="0" anchor="t">
            <a:normAutofit/>
          </a:bodyPr>
          <a:lstStyle/>
          <a:p>
            <a:pPr algn="l" indent="0" marL="0">
              <a:lnSpc>
                <a:spcPct val="104000"/>
              </a:lnSpc>
              <a:buNone/>
            </a:pPr>
            <a:r>
              <a:rPr lang="en-US" sz="4450" dirty="0">
                <a:solidFill>
                  <a:srgbClr val="F2F2F3"/>
                </a:solidFill>
                <a:latin typeface="Poppins Light" pitchFamily="34" charset="0"/>
                <a:ea typeface="Poppins Light" pitchFamily="34" charset="-122"/>
                <a:cs typeface="Poppins Light" pitchFamily="34" charset="-120"/>
              </a:rPr>
              <a:t>One Platform. Every Camera. Zero Blind Spots.</a:t>
            </a:r>
            <a:endParaRPr lang="en-US" sz="4450" dirty="0"/>
          </a:p>
        </p:txBody>
      </p:sp>
      <p:sp>
        <p:nvSpPr>
          <p:cNvPr id="6" name="Text 4"/>
          <p:cNvSpPr/>
          <p:nvPr/>
        </p:nvSpPr>
        <p:spPr>
          <a:xfrm>
            <a:off x="661475" y="4305895"/>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E5E0DF"/>
                </a:solidFill>
                <a:latin typeface="Roboto Light" pitchFamily="34" charset="0"/>
                <a:ea typeface="Roboto Light" pitchFamily="34" charset="-122"/>
                <a:cs typeface="Roboto Light" pitchFamily="34" charset="-120"/>
              </a:rPr>
              <a:t>AI-Powered, Vendor-Agnostic Video Intelligence for Gujarat's Statewide CCTV Grid</a:t>
            </a:r>
            <a:endParaRPr lang="en-US" sz="1300" dirty="0"/>
          </a:p>
        </p:txBody>
      </p:sp>
      <p:sp>
        <p:nvSpPr>
          <p:cNvPr id="7" name="Shape 5"/>
          <p:cNvSpPr/>
          <p:nvPr/>
        </p:nvSpPr>
        <p:spPr>
          <a:xfrm>
            <a:off x="661475" y="4797822"/>
            <a:ext cx="10868745" cy="19050"/>
          </a:xfrm>
          <a:prstGeom prst="roundRect">
            <a:avLst>
              <a:gd name="adj" fmla="val 49999"/>
            </a:avLst>
          </a:prstGeom>
          <a:solidFill>
            <a:srgbClr val="E5E0DF">
              <a:alpha val="50000"/>
            </a:srgbClr>
          </a:solidFill>
          <a:ln/>
        </p:spPr>
      </p:sp>
      <p:sp>
        <p:nvSpPr>
          <p:cNvPr id="8" name="Text 6"/>
          <p:cNvSpPr/>
          <p:nvPr/>
        </p:nvSpPr>
        <p:spPr>
          <a:xfrm>
            <a:off x="661475" y="5044182"/>
            <a:ext cx="11478330" cy="264616"/>
          </a:xfrm>
          <a:prstGeom prst="rect">
            <a:avLst/>
          </a:prstGeom>
          <a:noFill/>
          <a:ln/>
        </p:spPr>
        <p:txBody>
          <a:bodyPr wrap="none" lIns="0" tIns="0" rIns="0" bIns="0" rtlCol="0" anchor="t"/>
          <a:lstStyle/>
          <a:p>
            <a:pPr algn="l" indent="0" marL="0">
              <a:lnSpc>
                <a:spcPct val="133000"/>
              </a:lnSpc>
              <a:buNone/>
            </a:pPr>
            <a:r>
              <a:rPr lang="en-US" sz="1300" i="1" dirty="0">
                <a:solidFill>
                  <a:srgbClr val="E5E0DF"/>
                </a:solidFill>
                <a:latin typeface="Roboto Light" pitchFamily="34" charset="0"/>
                <a:ea typeface="Roboto Light" pitchFamily="34" charset="-122"/>
                <a:cs typeface="Roboto Light" pitchFamily="34" charset="-120"/>
              </a:rPr>
              <a:t>Built for Sentinels: Integrated Video Management &amp; Analytics Platform for Government CCTV Integration | Gujarat State Hackathon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475952"/>
            <a:ext cx="1020142" cy="238820"/>
          </a:xfrm>
          <a:prstGeom prst="roundRect">
            <a:avLst>
              <a:gd name="adj" fmla="val 22106"/>
            </a:avLst>
          </a:prstGeom>
          <a:noFill/>
          <a:ln w="6350">
            <a:solidFill>
              <a:srgbClr val="F2F2F3"/>
            </a:solidFill>
            <a:prstDash val="solid"/>
          </a:ln>
        </p:spPr>
      </p:sp>
      <p:sp>
        <p:nvSpPr>
          <p:cNvPr id="3" name="Text 1"/>
          <p:cNvSpPr/>
          <p:nvPr/>
        </p:nvSpPr>
        <p:spPr>
          <a:xfrm>
            <a:off x="755730" y="523081"/>
            <a:ext cx="1441216" cy="144562"/>
          </a:xfrm>
          <a:prstGeom prst="rect">
            <a:avLst/>
          </a:prstGeom>
          <a:noFill/>
          <a:ln/>
        </p:spPr>
        <p:txBody>
          <a:bodyPr wrap="none" lIns="0" tIns="0" rIns="0" bIns="0" rtlCol="0" anchor="t"/>
          <a:lstStyle/>
          <a:p>
            <a:pPr algn="l" indent="0" marL="0">
              <a:lnSpc>
                <a:spcPct val="96000"/>
              </a:lnSpc>
              <a:buNone/>
            </a:pPr>
            <a:r>
              <a:rPr lang="en-US" sz="950" dirty="0">
                <a:solidFill>
                  <a:srgbClr val="F2F2F3"/>
                </a:solidFill>
                <a:latin typeface="Roboto Light" pitchFamily="34" charset="0"/>
                <a:ea typeface="Roboto Light" pitchFamily="34" charset="-122"/>
                <a:cs typeface="Roboto Light" pitchFamily="34" charset="-120"/>
              </a:rPr>
              <a:t>THE PROBLEM</a:t>
            </a:r>
            <a:endParaRPr lang="en-US" sz="950" dirty="0"/>
          </a:p>
        </p:txBody>
      </p:sp>
      <p:sp>
        <p:nvSpPr>
          <p:cNvPr id="4" name="Text 2"/>
          <p:cNvSpPr/>
          <p:nvPr/>
        </p:nvSpPr>
        <p:spPr>
          <a:xfrm>
            <a:off x="661475" y="774402"/>
            <a:ext cx="10868745" cy="981869"/>
          </a:xfrm>
          <a:prstGeom prst="rect">
            <a:avLst/>
          </a:prstGeom>
          <a:noFill/>
          <a:ln/>
        </p:spPr>
        <p:txBody>
          <a:bodyPr wrap="square" lIns="0" tIns="0" rIns="0" bIns="0" rtlCol="0" anchor="t">
            <a:normAutofit/>
          </a:bodyPr>
          <a:lstStyle/>
          <a:p>
            <a:pPr algn="l" indent="0" marL="0">
              <a:lnSpc>
                <a:spcPct val="104000"/>
              </a:lnSpc>
              <a:buNone/>
            </a:pPr>
            <a:r>
              <a:rPr lang="en-US" sz="3050" dirty="0">
                <a:solidFill>
                  <a:srgbClr val="F2F2F3"/>
                </a:solidFill>
                <a:latin typeface="Poppins Light" pitchFamily="34" charset="0"/>
                <a:ea typeface="Poppins Light" pitchFamily="34" charset="-122"/>
                <a:cs typeface="Poppins Light" pitchFamily="34" charset="-120"/>
              </a:rPr>
              <a:t>Gujarat Has 80,000+ Cameras. It Has Zero Unified Intelligence.</a:t>
            </a:r>
            <a:endParaRPr lang="en-US" sz="3050" dirty="0"/>
          </a:p>
        </p:txBody>
      </p:sp>
      <p:sp>
        <p:nvSpPr>
          <p:cNvPr id="5" name="Text 3"/>
          <p:cNvSpPr/>
          <p:nvPr/>
        </p:nvSpPr>
        <p:spPr>
          <a:xfrm>
            <a:off x="661475" y="1980109"/>
            <a:ext cx="11478330" cy="245170"/>
          </a:xfrm>
          <a:prstGeom prst="rect">
            <a:avLst/>
          </a:prstGeom>
          <a:noFill/>
          <a:ln/>
        </p:spPr>
        <p:txBody>
          <a:bodyPr wrap="none" lIns="0" tIns="0" rIns="0" bIns="0" rtlCol="0" anchor="t"/>
          <a:lstStyle/>
          <a:p>
            <a:pPr algn="l" indent="0" marL="0">
              <a:lnSpc>
                <a:spcPct val="130000"/>
              </a:lnSpc>
              <a:buNone/>
            </a:pPr>
            <a:r>
              <a:rPr lang="en-US" sz="1200" dirty="0">
                <a:solidFill>
                  <a:srgbClr val="E5E0DF"/>
                </a:solidFill>
                <a:latin typeface="Roboto Light" pitchFamily="34" charset="0"/>
                <a:ea typeface="Roboto Light" pitchFamily="34" charset="-122"/>
                <a:cs typeface="Roboto Light" pitchFamily="34" charset="-120"/>
              </a:rPr>
              <a:t>Every department solved surveillance alone. Nobody solved it together.</a:t>
            </a:r>
            <a:endParaRPr lang="en-US" sz="12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393156"/>
            <a:ext cx="5359762" cy="1667966"/>
          </a:xfrm>
          <a:prstGeom prst="rect">
            <a:avLst/>
          </a:prstGeom>
        </p:spPr>
      </p:pic>
      <p:sp>
        <p:nvSpPr>
          <p:cNvPr id="7" name="Text 4"/>
          <p:cNvSpPr/>
          <p:nvPr/>
        </p:nvSpPr>
        <p:spPr>
          <a:xfrm>
            <a:off x="913782" y="2569270"/>
            <a:ext cx="4931346" cy="245566"/>
          </a:xfrm>
          <a:prstGeom prst="rect">
            <a:avLst/>
          </a:prstGeom>
          <a:noFill/>
          <a:ln/>
        </p:spPr>
        <p:txBody>
          <a:bodyPr wrap="none" lIns="0" tIns="0" rIns="0" bIns="0" rtlCol="0" anchor="t"/>
          <a:lstStyle/>
          <a:p>
            <a:pPr algn="l" indent="0" marL="0">
              <a:lnSpc>
                <a:spcPct val="104000"/>
              </a:lnSpc>
              <a:buNone/>
            </a:pPr>
            <a:r>
              <a:rPr lang="en-US" sz="1500" dirty="0">
                <a:solidFill>
                  <a:srgbClr val="E5E0DF"/>
                </a:solidFill>
                <a:latin typeface="Poppins Light" pitchFamily="34" charset="0"/>
                <a:ea typeface="Poppins Light" pitchFamily="34" charset="-122"/>
                <a:cs typeface="Poppins Light" pitchFamily="34" charset="-120"/>
              </a:rPr>
              <a:t>80,000+ cameras, 0 shared registry.</a:t>
            </a:r>
            <a:endParaRPr lang="en-US" sz="1500" dirty="0"/>
          </a:p>
        </p:txBody>
      </p:sp>
      <p:sp>
        <p:nvSpPr>
          <p:cNvPr id="8" name="Text 5"/>
          <p:cNvSpPr/>
          <p:nvPr/>
        </p:nvSpPr>
        <p:spPr>
          <a:xfrm>
            <a:off x="913782" y="2904331"/>
            <a:ext cx="4931346" cy="980678"/>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E5E0DF"/>
                </a:solidFill>
                <a:latin typeface="Roboto Light" pitchFamily="34" charset="0"/>
                <a:ea typeface="Roboto Light" pitchFamily="34" charset="-122"/>
                <a:cs typeface="Roboto Light" pitchFamily="34" charset="-120"/>
              </a:rPr>
              <a:t>Departmental RTSP feeds, ONVIF hardware, and vendor VMS platforms (Milestone, HikCentral, Dahua-class) each operate in isolation, with no single source of truth for what exists, where it is, or whether it's even online.</a:t>
            </a:r>
            <a:endParaRPr lang="en-US" sz="12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0458" y="2393156"/>
            <a:ext cx="5359762" cy="1667966"/>
          </a:xfrm>
          <a:prstGeom prst="rect">
            <a:avLst/>
          </a:prstGeom>
        </p:spPr>
      </p:pic>
      <p:sp>
        <p:nvSpPr>
          <p:cNvPr id="10" name="Text 6"/>
          <p:cNvSpPr/>
          <p:nvPr/>
        </p:nvSpPr>
        <p:spPr>
          <a:xfrm>
            <a:off x="6422765" y="2569270"/>
            <a:ext cx="4931346" cy="245566"/>
          </a:xfrm>
          <a:prstGeom prst="rect">
            <a:avLst/>
          </a:prstGeom>
          <a:noFill/>
          <a:ln/>
        </p:spPr>
        <p:txBody>
          <a:bodyPr wrap="none" lIns="0" tIns="0" rIns="0" bIns="0" rtlCol="0" anchor="t"/>
          <a:lstStyle/>
          <a:p>
            <a:pPr algn="l" indent="0" marL="0">
              <a:lnSpc>
                <a:spcPct val="104000"/>
              </a:lnSpc>
              <a:buNone/>
            </a:pPr>
            <a:r>
              <a:rPr lang="en-US" sz="1500" dirty="0">
                <a:solidFill>
                  <a:srgbClr val="E5E0DF"/>
                </a:solidFill>
                <a:latin typeface="Poppins Light" pitchFamily="34" charset="0"/>
                <a:ea typeface="Poppins Light" pitchFamily="34" charset="-122"/>
                <a:cs typeface="Poppins Light" pitchFamily="34" charset="-120"/>
              </a:rPr>
              <a:t>3+ incompatible vendor payload formats.</a:t>
            </a:r>
            <a:endParaRPr lang="en-US" sz="1500" dirty="0"/>
          </a:p>
        </p:txBody>
      </p:sp>
      <p:sp>
        <p:nvSpPr>
          <p:cNvPr id="11" name="Text 7"/>
          <p:cNvSpPr/>
          <p:nvPr/>
        </p:nvSpPr>
        <p:spPr>
          <a:xfrm>
            <a:off x="6422765" y="2904331"/>
            <a:ext cx="4931346" cy="74820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E5E0DF"/>
                </a:solidFill>
                <a:latin typeface="Roboto Light" pitchFamily="34" charset="0"/>
                <a:ea typeface="Roboto Light" pitchFamily="34" charset="-122"/>
                <a:cs typeface="Roboto Light" pitchFamily="34" charset="-120"/>
              </a:rPr>
              <a:t>Milestone calls it </a:t>
            </a:r>
            <a:pPr algn="l" indent="0" marL="0">
              <a:lnSpc>
                <a:spcPct val="130000"/>
              </a:lnSpc>
              <a:buNone/>
            </a:pPr>
            <a:r>
              <a:rPr lang="en-US" sz="1200" dirty="0">
                <a:solidFill>
                  <a:srgbClr val="E5E0DF"/>
                </a:solidFill>
                <a:highlight>
                  <a:srgbClr val="121212"/>
                </a:highlight>
                <a:latin typeface="Consolas" pitchFamily="34" charset="0"/>
                <a:ea typeface="Consolas" pitchFamily="34" charset="-122"/>
                <a:cs typeface="Consolas" pitchFamily="34" charset="-120"/>
              </a:rPr>
              <a:t>licensePlate</a:t>
            </a:r>
            <a:pPr algn="l" indent="0" marL="0">
              <a:lnSpc>
                <a:spcPct val="130000"/>
              </a:lnSpc>
              <a:buNone/>
            </a:pPr>
            <a:r>
              <a:rPr lang="en-US" sz="1200" dirty="0">
                <a:solidFill>
                  <a:srgbClr val="E5E0DF"/>
                </a:solidFill>
                <a:latin typeface="Roboto Light" pitchFamily="34" charset="0"/>
                <a:ea typeface="Roboto Light" pitchFamily="34" charset="-122"/>
                <a:cs typeface="Roboto Light" pitchFamily="34" charset="-120"/>
              </a:rPr>
              <a:t>. HikCentral calls it </a:t>
            </a:r>
            <a:pPr algn="l" indent="0" marL="0">
              <a:lnSpc>
                <a:spcPct val="130000"/>
              </a:lnSpc>
              <a:buNone/>
            </a:pPr>
            <a:r>
              <a:rPr lang="en-US" sz="1200" dirty="0">
                <a:solidFill>
                  <a:srgbClr val="E5E0DF"/>
                </a:solidFill>
                <a:highlight>
                  <a:srgbClr val="121212"/>
                </a:highlight>
                <a:latin typeface="Consolas" pitchFamily="34" charset="0"/>
                <a:ea typeface="Consolas" pitchFamily="34" charset="-122"/>
                <a:cs typeface="Consolas" pitchFamily="34" charset="-120"/>
              </a:rPr>
              <a:t>plateText</a:t>
            </a:r>
            <a:pPr algn="l" indent="0" marL="0">
              <a:lnSpc>
                <a:spcPct val="130000"/>
              </a:lnSpc>
              <a:buNone/>
            </a:pPr>
            <a:r>
              <a:rPr lang="en-US" sz="1200" dirty="0">
                <a:solidFill>
                  <a:srgbClr val="E5E0DF"/>
                </a:solidFill>
                <a:latin typeface="Roboto Light" pitchFamily="34" charset="0"/>
                <a:ea typeface="Roboto Light" pitchFamily="34" charset="-122"/>
                <a:cs typeface="Roboto Light" pitchFamily="34" charset="-120"/>
              </a:rPr>
              <a:t>. Dahua calls it </a:t>
            </a:r>
            <a:pPr algn="l" indent="0" marL="0">
              <a:lnSpc>
                <a:spcPct val="130000"/>
              </a:lnSpc>
              <a:buNone/>
            </a:pPr>
            <a:r>
              <a:rPr lang="en-US" sz="1200" dirty="0">
                <a:solidFill>
                  <a:srgbClr val="E5E0DF"/>
                </a:solidFill>
                <a:highlight>
                  <a:srgbClr val="121212"/>
                </a:highlight>
                <a:latin typeface="Consolas" pitchFamily="34" charset="0"/>
                <a:ea typeface="Consolas" pitchFamily="34" charset="-122"/>
                <a:cs typeface="Consolas" pitchFamily="34" charset="-120"/>
              </a:rPr>
              <a:t>plate</a:t>
            </a:r>
            <a:pPr algn="l" indent="0" marL="0">
              <a:lnSpc>
                <a:spcPct val="130000"/>
              </a:lnSpc>
              <a:buNone/>
            </a:pPr>
            <a:r>
              <a:rPr lang="en-US" sz="1200" dirty="0">
                <a:solidFill>
                  <a:srgbClr val="E5E0DF"/>
                </a:solidFill>
                <a:latin typeface="Roboto Light" pitchFamily="34" charset="0"/>
                <a:ea typeface="Roboto Light" pitchFamily="34" charset="-122"/>
                <a:cs typeface="Roboto Light" pitchFamily="34" charset="-120"/>
              </a:rPr>
              <a:t>. Every integration today is a custom, one-off engineering project. There is no standard adapter layer.</a:t>
            </a:r>
            <a:endParaRPr lang="en-US" sz="12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210348"/>
            <a:ext cx="5359762" cy="1422797"/>
          </a:xfrm>
          <a:prstGeom prst="rect">
            <a:avLst/>
          </a:prstGeom>
        </p:spPr>
      </p:pic>
      <p:sp>
        <p:nvSpPr>
          <p:cNvPr id="13" name="Text 8"/>
          <p:cNvSpPr/>
          <p:nvPr/>
        </p:nvSpPr>
        <p:spPr>
          <a:xfrm>
            <a:off x="913782" y="4386461"/>
            <a:ext cx="4931346" cy="245566"/>
          </a:xfrm>
          <a:prstGeom prst="rect">
            <a:avLst/>
          </a:prstGeom>
          <a:noFill/>
          <a:ln/>
        </p:spPr>
        <p:txBody>
          <a:bodyPr wrap="none" lIns="0" tIns="0" rIns="0" bIns="0" rtlCol="0" anchor="t"/>
          <a:lstStyle/>
          <a:p>
            <a:pPr algn="l" indent="0" marL="0">
              <a:lnSpc>
                <a:spcPct val="104000"/>
              </a:lnSpc>
              <a:buNone/>
            </a:pPr>
            <a:r>
              <a:rPr lang="en-US" sz="1500" dirty="0">
                <a:solidFill>
                  <a:srgbClr val="E5E0DF"/>
                </a:solidFill>
                <a:latin typeface="Poppins Light" pitchFamily="34" charset="0"/>
                <a:ea typeface="Poppins Light" pitchFamily="34" charset="-122"/>
                <a:cs typeface="Poppins Light" pitchFamily="34" charset="-120"/>
              </a:rPr>
              <a:t>0 cross-camera intelligence.</a:t>
            </a:r>
            <a:endParaRPr lang="en-US" sz="1500" dirty="0"/>
          </a:p>
        </p:txBody>
      </p:sp>
      <p:sp>
        <p:nvSpPr>
          <p:cNvPr id="14" name="Text 9"/>
          <p:cNvSpPr/>
          <p:nvPr/>
        </p:nvSpPr>
        <p:spPr>
          <a:xfrm>
            <a:off x="913782" y="4721523"/>
            <a:ext cx="4931346" cy="73550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E5E0DF"/>
                </a:solidFill>
                <a:latin typeface="Roboto Light" pitchFamily="34" charset="0"/>
                <a:ea typeface="Roboto Light" pitchFamily="34" charset="-122"/>
                <a:cs typeface="Roboto Light" pitchFamily="34" charset="-120"/>
              </a:rPr>
              <a:t>A stolen vehicle spotted on a Home Department camera and again on an RTO camera 40km away gets treated as two unrelated events. No system today stitches a route across departments or vendors.</a:t>
            </a:r>
            <a:endParaRPr lang="en-US" sz="12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0458" y="4210348"/>
            <a:ext cx="5359762" cy="1422797"/>
          </a:xfrm>
          <a:prstGeom prst="rect">
            <a:avLst/>
          </a:prstGeom>
        </p:spPr>
      </p:pic>
      <p:sp>
        <p:nvSpPr>
          <p:cNvPr id="16" name="Text 10"/>
          <p:cNvSpPr/>
          <p:nvPr/>
        </p:nvSpPr>
        <p:spPr>
          <a:xfrm>
            <a:off x="6422765" y="4386461"/>
            <a:ext cx="4931346" cy="245566"/>
          </a:xfrm>
          <a:prstGeom prst="rect">
            <a:avLst/>
          </a:prstGeom>
          <a:noFill/>
          <a:ln/>
        </p:spPr>
        <p:txBody>
          <a:bodyPr wrap="none" lIns="0" tIns="0" rIns="0" bIns="0" rtlCol="0" anchor="t"/>
          <a:lstStyle/>
          <a:p>
            <a:pPr algn="l" indent="0" marL="0">
              <a:lnSpc>
                <a:spcPct val="104000"/>
              </a:lnSpc>
              <a:buNone/>
            </a:pPr>
            <a:r>
              <a:rPr lang="en-US" sz="1500" dirty="0">
                <a:solidFill>
                  <a:srgbClr val="E5E0DF"/>
                </a:solidFill>
                <a:latin typeface="Poppins Light" pitchFamily="34" charset="0"/>
                <a:ea typeface="Poppins Light" pitchFamily="34" charset="-122"/>
                <a:cs typeface="Poppins Light" pitchFamily="34" charset="-120"/>
              </a:rPr>
              <a:t>Manual, reactive watchlist checks.</a:t>
            </a:r>
            <a:endParaRPr lang="en-US" sz="1500" dirty="0"/>
          </a:p>
        </p:txBody>
      </p:sp>
      <p:sp>
        <p:nvSpPr>
          <p:cNvPr id="17" name="Text 11"/>
          <p:cNvSpPr/>
          <p:nvPr/>
        </p:nvSpPr>
        <p:spPr>
          <a:xfrm>
            <a:off x="6422765" y="4721523"/>
            <a:ext cx="4931346"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E5E0DF"/>
                </a:solidFill>
                <a:latin typeface="Roboto Light" pitchFamily="34" charset="0"/>
                <a:ea typeface="Roboto Light" pitchFamily="34" charset="-122"/>
                <a:cs typeface="Roboto Light" pitchFamily="34" charset="-120"/>
              </a:rPr>
              <a:t>Vehicle and person watchlist matching happens after the fact, if at all. Not in real time, not automatically, not at platform scale.</a:t>
            </a:r>
            <a:endParaRPr lang="en-US" sz="1200" dirty="0"/>
          </a:p>
        </p:txBody>
      </p:sp>
      <p:sp>
        <p:nvSpPr>
          <p:cNvPr id="18" name="Text 12"/>
          <p:cNvSpPr/>
          <p:nvPr/>
        </p:nvSpPr>
        <p:spPr>
          <a:xfrm>
            <a:off x="897113" y="5968901"/>
            <a:ext cx="11242691" cy="245170"/>
          </a:xfrm>
          <a:prstGeom prst="rect">
            <a:avLst/>
          </a:prstGeom>
          <a:noFill/>
          <a:ln/>
        </p:spPr>
        <p:txBody>
          <a:bodyPr wrap="none" lIns="0" tIns="0" rIns="0" bIns="0" rtlCol="0" anchor="t"/>
          <a:lstStyle/>
          <a:p>
            <a:pPr algn="l" indent="0" marL="0">
              <a:lnSpc>
                <a:spcPct val="130000"/>
              </a:lnSpc>
              <a:buNone/>
            </a:pPr>
            <a:r>
              <a:rPr lang="en-US" sz="1200" b="1" dirty="0">
                <a:solidFill>
                  <a:srgbClr val="E5E0DF"/>
                </a:solidFill>
                <a:latin typeface="Roboto Bold" pitchFamily="34" charset="0"/>
                <a:ea typeface="Roboto Bold" pitchFamily="34" charset="-122"/>
                <a:cs typeface="Roboto Bold" pitchFamily="34" charset="-120"/>
              </a:rPr>
              <a:t>"The cost of fragmentation isn't inefficiency. It's a missed window on a live threat."</a:t>
            </a:r>
            <a:endParaRPr lang="en-US" sz="1200" dirty="0"/>
          </a:p>
        </p:txBody>
      </p:sp>
      <p:sp>
        <p:nvSpPr>
          <p:cNvPr id="19" name="Shape 13"/>
          <p:cNvSpPr/>
          <p:nvPr/>
        </p:nvSpPr>
        <p:spPr>
          <a:xfrm>
            <a:off x="661475" y="5801023"/>
            <a:ext cx="19050" cy="580926"/>
          </a:xfrm>
          <a:prstGeom prst="roundRect">
            <a:avLst>
              <a:gd name="adj" fmla="val 49999"/>
            </a:avLst>
          </a:prstGeom>
          <a:solidFill>
            <a:srgbClr val="F2F2F3"/>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726480"/>
            <a:ext cx="1042465" cy="238820"/>
          </a:xfrm>
          <a:prstGeom prst="roundRect">
            <a:avLst>
              <a:gd name="adj" fmla="val 22106"/>
            </a:avLst>
          </a:prstGeom>
          <a:noFill/>
          <a:ln w="6350">
            <a:solidFill>
              <a:srgbClr val="F2F2F3"/>
            </a:solidFill>
            <a:prstDash val="solid"/>
          </a:ln>
        </p:spPr>
      </p:sp>
      <p:sp>
        <p:nvSpPr>
          <p:cNvPr id="3" name="Text 1"/>
          <p:cNvSpPr/>
          <p:nvPr/>
        </p:nvSpPr>
        <p:spPr>
          <a:xfrm>
            <a:off x="755730" y="773609"/>
            <a:ext cx="1463539" cy="144562"/>
          </a:xfrm>
          <a:prstGeom prst="rect">
            <a:avLst/>
          </a:prstGeom>
          <a:noFill/>
          <a:ln/>
        </p:spPr>
        <p:txBody>
          <a:bodyPr wrap="none" lIns="0" tIns="0" rIns="0" bIns="0" rtlCol="0" anchor="t"/>
          <a:lstStyle/>
          <a:p>
            <a:pPr algn="l" indent="0" marL="0">
              <a:lnSpc>
                <a:spcPct val="96000"/>
              </a:lnSpc>
              <a:buNone/>
            </a:pPr>
            <a:r>
              <a:rPr lang="en-US" sz="950" dirty="0">
                <a:solidFill>
                  <a:srgbClr val="F2F2F3"/>
                </a:solidFill>
                <a:latin typeface="Roboto Light" pitchFamily="34" charset="0"/>
                <a:ea typeface="Roboto Light" pitchFamily="34" charset="-122"/>
                <a:cs typeface="Roboto Light" pitchFamily="34" charset="-120"/>
              </a:rPr>
              <a:t>THE SOLUTION</a:t>
            </a:r>
            <a:endParaRPr lang="en-US" sz="950" dirty="0"/>
          </a:p>
        </p:txBody>
      </p:sp>
      <p:sp>
        <p:nvSpPr>
          <p:cNvPr id="4" name="Text 2"/>
          <p:cNvSpPr/>
          <p:nvPr/>
        </p:nvSpPr>
        <p:spPr>
          <a:xfrm>
            <a:off x="661475" y="1024930"/>
            <a:ext cx="10868745" cy="981869"/>
          </a:xfrm>
          <a:prstGeom prst="rect">
            <a:avLst/>
          </a:prstGeom>
          <a:noFill/>
          <a:ln/>
        </p:spPr>
        <p:txBody>
          <a:bodyPr wrap="square" lIns="0" tIns="0" rIns="0" bIns="0" rtlCol="0" anchor="t">
            <a:normAutofit/>
          </a:bodyPr>
          <a:lstStyle/>
          <a:p>
            <a:pPr algn="l" indent="0" marL="0">
              <a:lnSpc>
                <a:spcPct val="104000"/>
              </a:lnSpc>
              <a:buNone/>
            </a:pPr>
            <a:r>
              <a:rPr lang="en-US" sz="3050" dirty="0">
                <a:solidFill>
                  <a:srgbClr val="F2F2F3"/>
                </a:solidFill>
                <a:latin typeface="Poppins Light" pitchFamily="34" charset="0"/>
                <a:ea typeface="Poppins Light" pitchFamily="34" charset="-122"/>
                <a:cs typeface="Poppins Light" pitchFamily="34" charset="-120"/>
              </a:rPr>
              <a:t>EyesOnGuj: One FastAPI Platform. Three Integrated Engines. One Shared Brain.</a:t>
            </a:r>
            <a:endParaRPr lang="en-US" sz="3050" dirty="0"/>
          </a:p>
        </p:txBody>
      </p:sp>
      <p:sp>
        <p:nvSpPr>
          <p:cNvPr id="5" name="Text 3"/>
          <p:cNvSpPr/>
          <p:nvPr/>
        </p:nvSpPr>
        <p:spPr>
          <a:xfrm>
            <a:off x="661475" y="2230636"/>
            <a:ext cx="11478330" cy="245170"/>
          </a:xfrm>
          <a:prstGeom prst="rect">
            <a:avLst/>
          </a:prstGeom>
          <a:noFill/>
          <a:ln/>
        </p:spPr>
        <p:txBody>
          <a:bodyPr wrap="none" lIns="0" tIns="0" rIns="0" bIns="0" rtlCol="0" anchor="t"/>
          <a:lstStyle/>
          <a:p>
            <a:pPr algn="l" indent="0" marL="0">
              <a:lnSpc>
                <a:spcPct val="130000"/>
              </a:lnSpc>
              <a:buNone/>
            </a:pPr>
            <a:r>
              <a:rPr lang="en-US" sz="1200" dirty="0">
                <a:solidFill>
                  <a:srgbClr val="E5E0DF"/>
                </a:solidFill>
                <a:latin typeface="Roboto Light" pitchFamily="34" charset="0"/>
                <a:ea typeface="Roboto Light" pitchFamily="34" charset="-122"/>
                <a:cs typeface="Roboto Light" pitchFamily="34" charset="-120"/>
              </a:rPr>
              <a:t>Not three disconnected tools bolted together. Three models sharing one schema, one login session, one RBAC layer, and one deployment unit.</a:t>
            </a:r>
            <a:endParaRPr lang="en-US" sz="1200" dirty="0"/>
          </a:p>
        </p:txBody>
      </p:sp>
      <p:sp>
        <p:nvSpPr>
          <p:cNvPr id="6" name="Shape 4"/>
          <p:cNvSpPr/>
          <p:nvPr/>
        </p:nvSpPr>
        <p:spPr>
          <a:xfrm>
            <a:off x="661475" y="2643684"/>
            <a:ext cx="3523368" cy="2712740"/>
          </a:xfrm>
          <a:prstGeom prst="roundRect">
            <a:avLst>
              <a:gd name="adj" fmla="val 2433"/>
            </a:avLst>
          </a:prstGeom>
          <a:solidFill>
            <a:srgbClr val="3D3D42"/>
          </a:solidFill>
          <a:ln w="6350">
            <a:solidFill>
              <a:srgbClr val="56565B"/>
            </a:solidFill>
            <a:prstDash val="solid"/>
          </a:ln>
        </p:spPr>
      </p:sp>
      <p:sp>
        <p:nvSpPr>
          <p:cNvPr id="7" name="Text 5"/>
          <p:cNvSpPr/>
          <p:nvPr/>
        </p:nvSpPr>
        <p:spPr>
          <a:xfrm>
            <a:off x="824884" y="2807097"/>
            <a:ext cx="3196550" cy="245566"/>
          </a:xfrm>
          <a:prstGeom prst="rect">
            <a:avLst/>
          </a:prstGeom>
          <a:noFill/>
          <a:ln/>
        </p:spPr>
        <p:txBody>
          <a:bodyPr wrap="none" lIns="0" tIns="0" rIns="0" bIns="0" rtlCol="0" anchor="t"/>
          <a:lstStyle/>
          <a:p>
            <a:pPr algn="l" indent="0" marL="0">
              <a:lnSpc>
                <a:spcPct val="104000"/>
              </a:lnSpc>
              <a:buNone/>
            </a:pPr>
            <a:r>
              <a:rPr lang="en-US" sz="1500" dirty="0">
                <a:solidFill>
                  <a:srgbClr val="E5E0DF"/>
                </a:solidFill>
                <a:latin typeface="Poppins Light" pitchFamily="34" charset="0"/>
                <a:ea typeface="Poppins Light" pitchFamily="34" charset="-122"/>
                <a:cs typeface="Poppins Light" pitchFamily="34" charset="-120"/>
              </a:rPr>
              <a:t>MODEL 1: REGISTRY &amp; GIS</a:t>
            </a:r>
            <a:endParaRPr lang="en-US" sz="1500" dirty="0"/>
          </a:p>
        </p:txBody>
      </p:sp>
      <p:sp>
        <p:nvSpPr>
          <p:cNvPr id="8" name="Text 6"/>
          <p:cNvSpPr/>
          <p:nvPr/>
        </p:nvSpPr>
        <p:spPr>
          <a:xfrm>
            <a:off x="824884" y="3142159"/>
            <a:ext cx="3196550" cy="1560513"/>
          </a:xfrm>
          <a:prstGeom prst="rect">
            <a:avLst/>
          </a:prstGeom>
          <a:noFill/>
          <a:ln/>
        </p:spPr>
        <p:txBody>
          <a:bodyPr wrap="square" lIns="0" tIns="0" rIns="0" bIns="0" rtlCol="0" anchor="t"/>
          <a:lstStyle/>
          <a:p>
            <a:pPr algn="l" indent="0" marL="0">
              <a:lnSpc>
                <a:spcPct val="130000"/>
              </a:lnSpc>
              <a:spcAft>
                <a:spcPts val="700"/>
              </a:spcAft>
              <a:buNone/>
            </a:pPr>
            <a:r>
              <a:rPr lang="en-US" sz="1200" b="1" dirty="0">
                <a:solidFill>
                  <a:srgbClr val="E5E0DF"/>
                </a:solidFill>
                <a:latin typeface="Roboto Bold" pitchFamily="34" charset="0"/>
                <a:ea typeface="Roboto Bold" pitchFamily="34" charset="-122"/>
                <a:cs typeface="Roboto Bold" pitchFamily="34" charset="-120"/>
              </a:rPr>
              <a:t>1 unified camera registry</a:t>
            </a:r>
            <a:endParaRPr lang="en-US" sz="1200" dirty="0"/>
          </a:p>
          <a:p>
            <a:pPr algn="l" indent="0" marL="0">
              <a:lnSpc>
                <a:spcPct val="130000"/>
              </a:lnSpc>
              <a:buNone/>
            </a:pPr>
            <a:r>
              <a:rPr lang="en-US" sz="1200" dirty="0">
                <a:solidFill>
                  <a:srgbClr val="E5E0DF"/>
                </a:solidFill>
                <a:latin typeface="Roboto Light" pitchFamily="34" charset="0"/>
                <a:ea typeface="Roboto Light" pitchFamily="34" charset="-122"/>
                <a:cs typeface="Roboto Light" pitchFamily="34" charset="-120"/>
              </a:rPr>
              <a:t>Department- and district-scoped camera CRUD, bulk CSV onboarding, and real PostGIS-powered coverage gap analysis using 1km geodesic buffer computation. Not a static map. An actual spatial query engine.</a:t>
            </a:r>
            <a:endParaRPr lang="en-US" sz="1200" dirty="0"/>
          </a:p>
        </p:txBody>
      </p:sp>
      <p:sp>
        <p:nvSpPr>
          <p:cNvPr id="9" name="Shape 7"/>
          <p:cNvSpPr/>
          <p:nvPr/>
        </p:nvSpPr>
        <p:spPr>
          <a:xfrm>
            <a:off x="4334064" y="2643684"/>
            <a:ext cx="3523467" cy="2712740"/>
          </a:xfrm>
          <a:prstGeom prst="roundRect">
            <a:avLst>
              <a:gd name="adj" fmla="val 2433"/>
            </a:avLst>
          </a:prstGeom>
          <a:solidFill>
            <a:srgbClr val="3D3D42"/>
          </a:solidFill>
          <a:ln w="6350">
            <a:solidFill>
              <a:srgbClr val="56565B"/>
            </a:solidFill>
            <a:prstDash val="solid"/>
          </a:ln>
        </p:spPr>
      </p:sp>
      <p:sp>
        <p:nvSpPr>
          <p:cNvPr id="10" name="Text 8"/>
          <p:cNvSpPr/>
          <p:nvPr/>
        </p:nvSpPr>
        <p:spPr>
          <a:xfrm>
            <a:off x="4497473" y="2807097"/>
            <a:ext cx="3196649" cy="245566"/>
          </a:xfrm>
          <a:prstGeom prst="rect">
            <a:avLst/>
          </a:prstGeom>
          <a:noFill/>
          <a:ln/>
        </p:spPr>
        <p:txBody>
          <a:bodyPr wrap="none" lIns="0" tIns="0" rIns="0" bIns="0" rtlCol="0" anchor="t"/>
          <a:lstStyle/>
          <a:p>
            <a:pPr algn="l" indent="0" marL="0">
              <a:lnSpc>
                <a:spcPct val="104000"/>
              </a:lnSpc>
              <a:buNone/>
            </a:pPr>
            <a:r>
              <a:rPr lang="en-US" sz="1500" dirty="0">
                <a:solidFill>
                  <a:srgbClr val="E5E0DF"/>
                </a:solidFill>
                <a:latin typeface="Poppins Light" pitchFamily="34" charset="0"/>
                <a:ea typeface="Poppins Light" pitchFamily="34" charset="-122"/>
                <a:cs typeface="Poppins Light" pitchFamily="34" charset="-120"/>
              </a:rPr>
              <a:t>MODEL 2: LIVE AI ANALYTICS</a:t>
            </a:r>
            <a:endParaRPr lang="en-US" sz="1500" dirty="0"/>
          </a:p>
        </p:txBody>
      </p:sp>
      <p:sp>
        <p:nvSpPr>
          <p:cNvPr id="11" name="Text 9"/>
          <p:cNvSpPr/>
          <p:nvPr/>
        </p:nvSpPr>
        <p:spPr>
          <a:xfrm>
            <a:off x="4497473" y="3142159"/>
            <a:ext cx="3196649" cy="1805682"/>
          </a:xfrm>
          <a:prstGeom prst="rect">
            <a:avLst/>
          </a:prstGeom>
          <a:noFill/>
          <a:ln/>
        </p:spPr>
        <p:txBody>
          <a:bodyPr wrap="square" lIns="0" tIns="0" rIns="0" bIns="0" rtlCol="0" anchor="t"/>
          <a:lstStyle/>
          <a:p>
            <a:pPr algn="l" indent="0" marL="0">
              <a:lnSpc>
                <a:spcPct val="130000"/>
              </a:lnSpc>
              <a:spcAft>
                <a:spcPts val="700"/>
              </a:spcAft>
              <a:buNone/>
            </a:pPr>
            <a:r>
              <a:rPr lang="en-US" sz="1200" b="1" dirty="0">
                <a:solidFill>
                  <a:srgbClr val="E5E0DF"/>
                </a:solidFill>
                <a:latin typeface="Roboto Bold" pitchFamily="34" charset="0"/>
                <a:ea typeface="Roboto Bold" pitchFamily="34" charset="-122"/>
                <a:cs typeface="Roboto Bold" pitchFamily="34" charset="-120"/>
              </a:rPr>
              <a:t>512-dimensional face embeddings, real-time</a:t>
            </a:r>
            <a:endParaRPr lang="en-US" sz="1200" dirty="0"/>
          </a:p>
          <a:p>
            <a:pPr algn="l" indent="0" marL="0">
              <a:lnSpc>
                <a:spcPct val="130000"/>
              </a:lnSpc>
              <a:buNone/>
            </a:pPr>
            <a:r>
              <a:rPr lang="en-US" sz="1200" dirty="0">
                <a:solidFill>
                  <a:srgbClr val="E5E0DF"/>
                </a:solidFill>
                <a:latin typeface="Roboto Light" pitchFamily="34" charset="0"/>
                <a:ea typeface="Roboto Light" pitchFamily="34" charset="-122"/>
                <a:cs typeface="Roboto Light" pitchFamily="34" charset="-120"/>
              </a:rPr>
              <a:t>Direct RTSP ingestion, YOLO + ByteTrack vehicle detection, ANPR with Indian/Bharat-series plate validation, and a 5-gate face quality pipeline feeding pgvector HNSW similarity search. WebSocket alerts hit operators the instant a watchlist match fires.</a:t>
            </a:r>
            <a:endParaRPr lang="en-US" sz="1200" dirty="0"/>
          </a:p>
        </p:txBody>
      </p:sp>
      <p:sp>
        <p:nvSpPr>
          <p:cNvPr id="12" name="Shape 10"/>
          <p:cNvSpPr/>
          <p:nvPr/>
        </p:nvSpPr>
        <p:spPr>
          <a:xfrm>
            <a:off x="8006753" y="2643684"/>
            <a:ext cx="3523368" cy="2712740"/>
          </a:xfrm>
          <a:prstGeom prst="roundRect">
            <a:avLst>
              <a:gd name="adj" fmla="val 2433"/>
            </a:avLst>
          </a:prstGeom>
          <a:solidFill>
            <a:srgbClr val="3D3D42"/>
          </a:solidFill>
          <a:ln w="6350">
            <a:solidFill>
              <a:srgbClr val="56565B"/>
            </a:solidFill>
            <a:prstDash val="solid"/>
          </a:ln>
        </p:spPr>
      </p:sp>
      <p:sp>
        <p:nvSpPr>
          <p:cNvPr id="13" name="Text 11"/>
          <p:cNvSpPr/>
          <p:nvPr/>
        </p:nvSpPr>
        <p:spPr>
          <a:xfrm>
            <a:off x="8170162" y="2807097"/>
            <a:ext cx="3196550" cy="245566"/>
          </a:xfrm>
          <a:prstGeom prst="rect">
            <a:avLst/>
          </a:prstGeom>
          <a:noFill/>
          <a:ln/>
        </p:spPr>
        <p:txBody>
          <a:bodyPr wrap="none" lIns="0" tIns="0" rIns="0" bIns="0" rtlCol="0" anchor="t"/>
          <a:lstStyle/>
          <a:p>
            <a:pPr algn="l" indent="0" marL="0">
              <a:lnSpc>
                <a:spcPct val="104000"/>
              </a:lnSpc>
              <a:buNone/>
            </a:pPr>
            <a:r>
              <a:rPr lang="en-US" sz="1500" dirty="0">
                <a:solidFill>
                  <a:srgbClr val="E5E0DF"/>
                </a:solidFill>
                <a:latin typeface="Poppins Light" pitchFamily="34" charset="0"/>
                <a:ea typeface="Poppins Light" pitchFamily="34" charset="-122"/>
                <a:cs typeface="Poppins Light" pitchFamily="34" charset="-120"/>
              </a:rPr>
              <a:t>MODEL 3: MULTI-VMS FEDERATION</a:t>
            </a:r>
            <a:endParaRPr lang="en-US" sz="1500" dirty="0"/>
          </a:p>
        </p:txBody>
      </p:sp>
      <p:sp>
        <p:nvSpPr>
          <p:cNvPr id="14" name="Text 12"/>
          <p:cNvSpPr/>
          <p:nvPr/>
        </p:nvSpPr>
        <p:spPr>
          <a:xfrm>
            <a:off x="8170162" y="3142159"/>
            <a:ext cx="3196550" cy="2050852"/>
          </a:xfrm>
          <a:prstGeom prst="rect">
            <a:avLst/>
          </a:prstGeom>
          <a:noFill/>
          <a:ln/>
        </p:spPr>
        <p:txBody>
          <a:bodyPr wrap="square" lIns="0" tIns="0" rIns="0" bIns="0" rtlCol="0" anchor="t"/>
          <a:lstStyle/>
          <a:p>
            <a:pPr algn="l" indent="0" marL="0">
              <a:lnSpc>
                <a:spcPct val="130000"/>
              </a:lnSpc>
              <a:spcAft>
                <a:spcPts val="700"/>
              </a:spcAft>
              <a:buNone/>
            </a:pPr>
            <a:r>
              <a:rPr lang="en-US" sz="1200" b="1" dirty="0">
                <a:solidFill>
                  <a:srgbClr val="E5E0DF"/>
                </a:solidFill>
                <a:latin typeface="Roboto Bold" pitchFamily="34" charset="0"/>
                <a:ea typeface="Roboto Bold" pitchFamily="34" charset="-122"/>
                <a:cs typeface="Roboto Bold" pitchFamily="34" charset="-120"/>
              </a:rPr>
              <a:t>Zero new code for supported protocols</a:t>
            </a:r>
            <a:endParaRPr lang="en-US" sz="1200" dirty="0"/>
          </a:p>
          <a:p>
            <a:pPr algn="l" indent="0" marL="0">
              <a:lnSpc>
                <a:spcPct val="130000"/>
              </a:lnSpc>
              <a:buNone/>
            </a:pPr>
            <a:r>
              <a:rPr lang="en-US" sz="1200" dirty="0">
                <a:solidFill>
                  <a:srgbClr val="E5E0DF"/>
                </a:solidFill>
                <a:latin typeface="Roboto Light" pitchFamily="34" charset="0"/>
                <a:ea typeface="Roboto Light" pitchFamily="34" charset="-122"/>
                <a:cs typeface="Roboto Light" pitchFamily="34" charset="-120"/>
              </a:rPr>
              <a:t>An adapter pattern (ONVIF, REST/API-key, municipal, police, RTO) that onboards any already-supported vendor system through configuration alone, plus a correlation engine that deduplicates and reconstructs cross-camera, cross-VMS vehicle routes via plate + timestamp joins.</a:t>
            </a:r>
            <a:endParaRPr lang="en-US" sz="1200" dirty="0"/>
          </a:p>
        </p:txBody>
      </p:sp>
      <p:sp>
        <p:nvSpPr>
          <p:cNvPr id="15" name="Shape 13"/>
          <p:cNvSpPr/>
          <p:nvPr/>
        </p:nvSpPr>
        <p:spPr>
          <a:xfrm>
            <a:off x="661475" y="5524302"/>
            <a:ext cx="10868745" cy="607120"/>
          </a:xfrm>
          <a:prstGeom prst="roundRect">
            <a:avLst>
              <a:gd name="adj" fmla="val 10870"/>
            </a:avLst>
          </a:prstGeom>
          <a:solidFill>
            <a:srgbClr val="3D3D42"/>
          </a:solidFill>
          <a:ln/>
        </p:spPr>
      </p:sp>
      <p:pic>
        <p:nvPicPr>
          <p:cNvPr id="16" name="Image 0" descr="preencoded.png">    </p:cNvPr>
          <p:cNvPicPr>
            <a:picLocks noChangeAspect="1"/>
          </p:cNvPicPr>
          <p:nvPr/>
        </p:nvPicPr>
        <p:blipFill>
          <a:blip r:embed="rId1"/>
          <a:stretch>
            <a:fillRect/>
          </a:stretch>
        </p:blipFill>
        <p:spPr>
          <a:xfrm>
            <a:off x="818534" y="5740301"/>
            <a:ext cx="196349" cy="157063"/>
          </a:xfrm>
          <a:prstGeom prst="rect">
            <a:avLst/>
          </a:prstGeom>
        </p:spPr>
      </p:pic>
      <p:sp>
        <p:nvSpPr>
          <p:cNvPr id="17" name="Text 14"/>
          <p:cNvSpPr/>
          <p:nvPr/>
        </p:nvSpPr>
        <p:spPr>
          <a:xfrm>
            <a:off x="1171943" y="5712718"/>
            <a:ext cx="10810803" cy="245170"/>
          </a:xfrm>
          <a:prstGeom prst="rect">
            <a:avLst/>
          </a:prstGeom>
          <a:noFill/>
          <a:ln/>
        </p:spPr>
        <p:txBody>
          <a:bodyPr wrap="none" lIns="0" tIns="0" rIns="0" bIns="0" rtlCol="0" anchor="t"/>
          <a:lstStyle/>
          <a:p>
            <a:pPr algn="l" indent="0" marL="0">
              <a:lnSpc>
                <a:spcPct val="130000"/>
              </a:lnSpc>
              <a:buNone/>
            </a:pPr>
            <a:r>
              <a:rPr lang="en-US" sz="1200" b="1" dirty="0">
                <a:solidFill>
                  <a:srgbClr val="FFFFFF"/>
                </a:solidFill>
                <a:latin typeface="Roboto Bold" pitchFamily="34" charset="0"/>
                <a:ea typeface="Roboto Bold" pitchFamily="34" charset="-122"/>
                <a:cs typeface="Roboto Bold" pitchFamily="34" charset="-120"/>
              </a:rPr>
              <a:t>"A direct RTSP camera and a federated vendor camera write into the exact same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497780"/>
            <a:ext cx="902570" cy="201116"/>
          </a:xfrm>
          <a:prstGeom prst="roundRect">
            <a:avLst>
              <a:gd name="adj" fmla="val 22105"/>
            </a:avLst>
          </a:prstGeom>
          <a:noFill/>
          <a:ln w="6350">
            <a:solidFill>
              <a:srgbClr val="F2F2F3"/>
            </a:solidFill>
            <a:prstDash val="solid"/>
          </a:ln>
        </p:spPr>
      </p:sp>
      <p:sp>
        <p:nvSpPr>
          <p:cNvPr id="3" name="Text 1"/>
          <p:cNvSpPr/>
          <p:nvPr/>
        </p:nvSpPr>
        <p:spPr>
          <a:xfrm>
            <a:off x="740848" y="537468"/>
            <a:ext cx="1353409" cy="121741"/>
          </a:xfrm>
          <a:prstGeom prst="rect">
            <a:avLst/>
          </a:prstGeom>
          <a:noFill/>
          <a:ln/>
        </p:spPr>
        <p:txBody>
          <a:bodyPr wrap="none" lIns="0" tIns="0" rIns="0" bIns="0" rtlCol="0" anchor="t"/>
          <a:lstStyle/>
          <a:p>
            <a:pPr algn="l" indent="0" marL="0">
              <a:lnSpc>
                <a:spcPct val="96000"/>
              </a:lnSpc>
              <a:buNone/>
            </a:pPr>
            <a:r>
              <a:rPr lang="en-US" sz="800" dirty="0">
                <a:solidFill>
                  <a:srgbClr val="F2F2F3"/>
                </a:solidFill>
                <a:latin typeface="Roboto Light" pitchFamily="34" charset="0"/>
                <a:ea typeface="Roboto Light" pitchFamily="34" charset="-122"/>
                <a:cs typeface="Roboto Light" pitchFamily="34" charset="-120"/>
              </a:rPr>
              <a:t>HOW IT WORKS</a:t>
            </a:r>
            <a:endParaRPr lang="en-US" sz="800" dirty="0"/>
          </a:p>
        </p:txBody>
      </p:sp>
      <p:sp>
        <p:nvSpPr>
          <p:cNvPr id="4" name="Text 2"/>
          <p:cNvSpPr/>
          <p:nvPr/>
        </p:nvSpPr>
        <p:spPr>
          <a:xfrm>
            <a:off x="661475" y="741164"/>
            <a:ext cx="10868745" cy="413445"/>
          </a:xfrm>
          <a:prstGeom prst="rect">
            <a:avLst/>
          </a:prstGeom>
          <a:noFill/>
          <a:ln/>
        </p:spPr>
        <p:txBody>
          <a:bodyPr wrap="none" lIns="0" tIns="0" rIns="0" bIns="0" rtlCol="0" anchor="t"/>
          <a:lstStyle/>
          <a:p>
            <a:pPr algn="l" indent="0" marL="0">
              <a:lnSpc>
                <a:spcPct val="104000"/>
              </a:lnSpc>
              <a:buNone/>
            </a:pPr>
            <a:r>
              <a:rPr lang="en-US" sz="2600" dirty="0">
                <a:solidFill>
                  <a:srgbClr val="F2F2F3"/>
                </a:solidFill>
                <a:latin typeface="Poppins Light" pitchFamily="34" charset="0"/>
                <a:ea typeface="Poppins Light" pitchFamily="34" charset="-122"/>
                <a:cs typeface="Poppins Light" pitchFamily="34" charset="-120"/>
              </a:rPr>
              <a:t>From Camera to Command Center in Under a Second</a:t>
            </a:r>
            <a:endParaRPr lang="en-US" sz="2600" dirty="0"/>
          </a:p>
        </p:txBody>
      </p:sp>
      <p:sp>
        <p:nvSpPr>
          <p:cNvPr id="5" name="Text 3"/>
          <p:cNvSpPr/>
          <p:nvPr/>
        </p:nvSpPr>
        <p:spPr>
          <a:xfrm>
            <a:off x="661475" y="1313359"/>
            <a:ext cx="11478330" cy="190500"/>
          </a:xfrm>
          <a:prstGeom prst="rect">
            <a:avLst/>
          </a:prstGeom>
          <a:noFill/>
          <a:ln/>
        </p:spPr>
        <p:txBody>
          <a:bodyPr wrap="none" lIns="0" tIns="0" rIns="0" bIns="0" rtlCol="0" anchor="t"/>
          <a:lstStyle/>
          <a:p>
            <a:pPr algn="l" indent="0" marL="0">
              <a:lnSpc>
                <a:spcPct val="120000"/>
              </a:lnSpc>
              <a:buNone/>
            </a:pPr>
            <a:r>
              <a:rPr lang="en-US" sz="1000" dirty="0">
                <a:solidFill>
                  <a:srgbClr val="E5E0DF"/>
                </a:solidFill>
                <a:latin typeface="Roboto Light" pitchFamily="34" charset="0"/>
                <a:ea typeface="Roboto Light" pitchFamily="34" charset="-122"/>
                <a:cs typeface="Roboto Light" pitchFamily="34" charset="-120"/>
              </a:rPr>
              <a:t>The full pipeline, end to end. No manual steps, no batch delay.</a:t>
            </a:r>
            <a:endParaRPr lang="en-US" sz="1000" dirty="0"/>
          </a:p>
        </p:txBody>
      </p:sp>
      <p:sp>
        <p:nvSpPr>
          <p:cNvPr id="6" name="Text 4"/>
          <p:cNvSpPr/>
          <p:nvPr/>
        </p:nvSpPr>
        <p:spPr>
          <a:xfrm>
            <a:off x="661475" y="1622921"/>
            <a:ext cx="264610" cy="165298"/>
          </a:xfrm>
          <a:prstGeom prst="rect">
            <a:avLst/>
          </a:prstGeom>
          <a:noFill/>
          <a:ln/>
        </p:spPr>
        <p:txBody>
          <a:bodyPr wrap="none" lIns="0" tIns="0" rIns="0" bIns="0" rtlCol="0" anchor="ctr"/>
          <a:lstStyle/>
          <a:p>
            <a:pPr algn="l" indent="0" marL="0">
              <a:lnSpc>
                <a:spcPct val="100000"/>
              </a:lnSpc>
              <a:buNone/>
            </a:pPr>
            <a:r>
              <a:rPr lang="en-US" sz="1000" dirty="0">
                <a:solidFill>
                  <a:srgbClr val="E5E0DF"/>
                </a:solidFill>
                <a:latin typeface="Poppins Light" pitchFamily="34" charset="0"/>
                <a:ea typeface="Poppins Light" pitchFamily="34" charset="-122"/>
                <a:cs typeface="Poppins Light" pitchFamily="34" charset="-120"/>
              </a:rPr>
              <a:t>01</a:t>
            </a:r>
            <a:endParaRPr lang="en-US" sz="1000" dirty="0"/>
          </a:p>
        </p:txBody>
      </p:sp>
      <p:sp>
        <p:nvSpPr>
          <p:cNvPr id="7" name="Shape 5"/>
          <p:cNvSpPr/>
          <p:nvPr/>
        </p:nvSpPr>
        <p:spPr>
          <a:xfrm>
            <a:off x="661475" y="1828602"/>
            <a:ext cx="5381490" cy="19050"/>
          </a:xfrm>
          <a:prstGeom prst="rect">
            <a:avLst/>
          </a:prstGeom>
          <a:solidFill>
            <a:srgbClr val="F2F2F3"/>
          </a:solidFill>
          <a:ln/>
        </p:spPr>
      </p:sp>
      <p:sp>
        <p:nvSpPr>
          <p:cNvPr id="8" name="Text 6"/>
          <p:cNvSpPr/>
          <p:nvPr/>
        </p:nvSpPr>
        <p:spPr>
          <a:xfrm>
            <a:off x="661475" y="1932781"/>
            <a:ext cx="5381490" cy="206673"/>
          </a:xfrm>
          <a:prstGeom prst="rect">
            <a:avLst/>
          </a:prstGeom>
          <a:noFill/>
          <a:ln/>
        </p:spPr>
        <p:txBody>
          <a:bodyPr wrap="none" lIns="0" tIns="0" rIns="0" bIns="0" rtlCol="0" anchor="t"/>
          <a:lstStyle/>
          <a:p>
            <a:pPr algn="l" indent="0" marL="0">
              <a:lnSpc>
                <a:spcPct val="104000"/>
              </a:lnSpc>
              <a:buNone/>
            </a:pPr>
            <a:r>
              <a:rPr lang="en-US" sz="1300" dirty="0">
                <a:solidFill>
                  <a:srgbClr val="E5E0DF"/>
                </a:solidFill>
                <a:latin typeface="Poppins Light" pitchFamily="34" charset="0"/>
                <a:ea typeface="Poppins Light" pitchFamily="34" charset="-122"/>
                <a:cs typeface="Poppins Light" pitchFamily="34" charset="-120"/>
              </a:rPr>
              <a:t>ONBOARD</a:t>
            </a:r>
            <a:endParaRPr lang="en-US" sz="1300" dirty="0"/>
          </a:p>
        </p:txBody>
      </p:sp>
      <p:sp>
        <p:nvSpPr>
          <p:cNvPr id="9" name="Text 7"/>
          <p:cNvSpPr/>
          <p:nvPr/>
        </p:nvSpPr>
        <p:spPr>
          <a:xfrm>
            <a:off x="661475" y="2202954"/>
            <a:ext cx="5381490"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5E0DF"/>
                </a:solidFill>
                <a:latin typeface="Roboto Light" pitchFamily="34" charset="0"/>
                <a:ea typeface="Roboto Light" pitchFamily="34" charset="-122"/>
                <a:cs typeface="Roboto Light" pitchFamily="34" charset="-120"/>
              </a:rPr>
              <a:t>A camera enters the platform one of two ways: direct RTSP ingestion (Model 2 spins up one dedicated stream worker per camera) or federated onboarding through a vendor adapter (Model 3), with a live test-connection check before anything is persisted.</a:t>
            </a:r>
            <a:endParaRPr lang="en-US" sz="1000" dirty="0"/>
          </a:p>
        </p:txBody>
      </p:sp>
      <p:sp>
        <p:nvSpPr>
          <p:cNvPr id="10" name="Text 8"/>
          <p:cNvSpPr/>
          <p:nvPr/>
        </p:nvSpPr>
        <p:spPr>
          <a:xfrm>
            <a:off x="6148730" y="1622921"/>
            <a:ext cx="264610" cy="165298"/>
          </a:xfrm>
          <a:prstGeom prst="rect">
            <a:avLst/>
          </a:prstGeom>
          <a:noFill/>
          <a:ln/>
        </p:spPr>
        <p:txBody>
          <a:bodyPr wrap="none" lIns="0" tIns="0" rIns="0" bIns="0" rtlCol="0" anchor="ctr"/>
          <a:lstStyle/>
          <a:p>
            <a:pPr algn="l" indent="0" marL="0">
              <a:lnSpc>
                <a:spcPct val="100000"/>
              </a:lnSpc>
              <a:buNone/>
            </a:pPr>
            <a:r>
              <a:rPr lang="en-US" sz="1000" dirty="0">
                <a:solidFill>
                  <a:srgbClr val="E5E0DF"/>
                </a:solidFill>
                <a:latin typeface="Poppins Light" pitchFamily="34" charset="0"/>
                <a:ea typeface="Poppins Light" pitchFamily="34" charset="-122"/>
                <a:cs typeface="Poppins Light" pitchFamily="34" charset="-120"/>
              </a:rPr>
              <a:t>02</a:t>
            </a:r>
            <a:endParaRPr lang="en-US" sz="1000" dirty="0"/>
          </a:p>
        </p:txBody>
      </p:sp>
      <p:sp>
        <p:nvSpPr>
          <p:cNvPr id="11" name="Shape 9"/>
          <p:cNvSpPr/>
          <p:nvPr/>
        </p:nvSpPr>
        <p:spPr>
          <a:xfrm>
            <a:off x="6148730" y="1828602"/>
            <a:ext cx="5381490" cy="19050"/>
          </a:xfrm>
          <a:prstGeom prst="rect">
            <a:avLst/>
          </a:prstGeom>
          <a:solidFill>
            <a:srgbClr val="F2F2F3"/>
          </a:solidFill>
          <a:ln/>
        </p:spPr>
      </p:sp>
      <p:sp>
        <p:nvSpPr>
          <p:cNvPr id="12" name="Text 10"/>
          <p:cNvSpPr/>
          <p:nvPr/>
        </p:nvSpPr>
        <p:spPr>
          <a:xfrm>
            <a:off x="6148730" y="1932781"/>
            <a:ext cx="5381490" cy="206673"/>
          </a:xfrm>
          <a:prstGeom prst="rect">
            <a:avLst/>
          </a:prstGeom>
          <a:noFill/>
          <a:ln/>
        </p:spPr>
        <p:txBody>
          <a:bodyPr wrap="none" lIns="0" tIns="0" rIns="0" bIns="0" rtlCol="0" anchor="t"/>
          <a:lstStyle/>
          <a:p>
            <a:pPr algn="l" indent="0" marL="0">
              <a:lnSpc>
                <a:spcPct val="104000"/>
              </a:lnSpc>
              <a:buNone/>
            </a:pPr>
            <a:r>
              <a:rPr lang="en-US" sz="1300" dirty="0">
                <a:solidFill>
                  <a:srgbClr val="E5E0DF"/>
                </a:solidFill>
                <a:latin typeface="Poppins Light" pitchFamily="34" charset="0"/>
                <a:ea typeface="Poppins Light" pitchFamily="34" charset="-122"/>
                <a:cs typeface="Poppins Light" pitchFamily="34" charset="-120"/>
              </a:rPr>
              <a:t>REGISTER</a:t>
            </a:r>
            <a:endParaRPr lang="en-US" sz="1300" dirty="0"/>
          </a:p>
        </p:txBody>
      </p:sp>
      <p:sp>
        <p:nvSpPr>
          <p:cNvPr id="13" name="Text 11"/>
          <p:cNvSpPr/>
          <p:nvPr/>
        </p:nvSpPr>
        <p:spPr>
          <a:xfrm>
            <a:off x="6148730" y="2202954"/>
            <a:ext cx="5381490"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5E0DF"/>
                </a:solidFill>
                <a:latin typeface="Roboto Light" pitchFamily="34" charset="0"/>
                <a:ea typeface="Roboto Light" pitchFamily="34" charset="-122"/>
                <a:cs typeface="Roboto Light" pitchFamily="34" charset="-120"/>
              </a:rPr>
              <a:t>The camera lands in the shared registry with department, district, GPS location, ownership, and retention metadata. It's instantly visible on the GIS map and included in the next coverage gap analysis pass.</a:t>
            </a:r>
            <a:endParaRPr lang="en-US" sz="1000" dirty="0"/>
          </a:p>
        </p:txBody>
      </p:sp>
      <p:sp>
        <p:nvSpPr>
          <p:cNvPr id="14" name="Text 12"/>
          <p:cNvSpPr/>
          <p:nvPr/>
        </p:nvSpPr>
        <p:spPr>
          <a:xfrm>
            <a:off x="661475" y="2979440"/>
            <a:ext cx="264610" cy="165298"/>
          </a:xfrm>
          <a:prstGeom prst="rect">
            <a:avLst/>
          </a:prstGeom>
          <a:noFill/>
          <a:ln/>
        </p:spPr>
        <p:txBody>
          <a:bodyPr wrap="none" lIns="0" tIns="0" rIns="0" bIns="0" rtlCol="0" anchor="ctr"/>
          <a:lstStyle/>
          <a:p>
            <a:pPr algn="l" indent="0" marL="0">
              <a:lnSpc>
                <a:spcPct val="100000"/>
              </a:lnSpc>
              <a:buNone/>
            </a:pPr>
            <a:r>
              <a:rPr lang="en-US" sz="1000" dirty="0">
                <a:solidFill>
                  <a:srgbClr val="E5E0DF"/>
                </a:solidFill>
                <a:latin typeface="Poppins Light" pitchFamily="34" charset="0"/>
                <a:ea typeface="Poppins Light" pitchFamily="34" charset="-122"/>
                <a:cs typeface="Poppins Light" pitchFamily="34" charset="-120"/>
              </a:rPr>
              <a:t>03</a:t>
            </a:r>
            <a:endParaRPr lang="en-US" sz="1000" dirty="0"/>
          </a:p>
        </p:txBody>
      </p:sp>
      <p:sp>
        <p:nvSpPr>
          <p:cNvPr id="15" name="Shape 13"/>
          <p:cNvSpPr/>
          <p:nvPr/>
        </p:nvSpPr>
        <p:spPr>
          <a:xfrm>
            <a:off x="661475" y="3185120"/>
            <a:ext cx="5381490" cy="19050"/>
          </a:xfrm>
          <a:prstGeom prst="rect">
            <a:avLst/>
          </a:prstGeom>
          <a:solidFill>
            <a:srgbClr val="F2F2F3"/>
          </a:solidFill>
          <a:ln/>
        </p:spPr>
      </p:sp>
      <p:sp>
        <p:nvSpPr>
          <p:cNvPr id="16" name="Text 14"/>
          <p:cNvSpPr/>
          <p:nvPr/>
        </p:nvSpPr>
        <p:spPr>
          <a:xfrm>
            <a:off x="661475" y="3289300"/>
            <a:ext cx="5381490" cy="206673"/>
          </a:xfrm>
          <a:prstGeom prst="rect">
            <a:avLst/>
          </a:prstGeom>
          <a:noFill/>
          <a:ln/>
        </p:spPr>
        <p:txBody>
          <a:bodyPr wrap="none" lIns="0" tIns="0" rIns="0" bIns="0" rtlCol="0" anchor="t"/>
          <a:lstStyle/>
          <a:p>
            <a:pPr algn="l" indent="0" marL="0">
              <a:lnSpc>
                <a:spcPct val="104000"/>
              </a:lnSpc>
              <a:buNone/>
            </a:pPr>
            <a:r>
              <a:rPr lang="en-US" sz="1300" dirty="0">
                <a:solidFill>
                  <a:srgbClr val="E5E0DF"/>
                </a:solidFill>
                <a:latin typeface="Poppins Light" pitchFamily="34" charset="0"/>
                <a:ea typeface="Poppins Light" pitchFamily="34" charset="-122"/>
                <a:cs typeface="Poppins Light" pitchFamily="34" charset="-120"/>
              </a:rPr>
              <a:t>DETECT</a:t>
            </a:r>
            <a:endParaRPr lang="en-US" sz="1300" dirty="0"/>
          </a:p>
        </p:txBody>
      </p:sp>
      <p:sp>
        <p:nvSpPr>
          <p:cNvPr id="17" name="Text 15"/>
          <p:cNvSpPr/>
          <p:nvPr/>
        </p:nvSpPr>
        <p:spPr>
          <a:xfrm>
            <a:off x="661475" y="3559473"/>
            <a:ext cx="5381490"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5E0DF"/>
                </a:solidFill>
                <a:latin typeface="Roboto Light" pitchFamily="34" charset="0"/>
                <a:ea typeface="Roboto Light" pitchFamily="34" charset="-122"/>
                <a:cs typeface="Roboto Light" pitchFamily="34" charset="-120"/>
              </a:rPr>
              <a:t>Live video gets analyzed frame by frame. YOLO + ByteTrack for vehicle detection and multi-object tracking, OCR-based ANPR for plate reads, and a 5-gate quality pipeline (face detection plus solvePnP 3D pose validation) for facial capture.</a:t>
            </a:r>
            <a:endParaRPr lang="en-US" sz="1000" dirty="0"/>
          </a:p>
        </p:txBody>
      </p:sp>
      <p:sp>
        <p:nvSpPr>
          <p:cNvPr id="18" name="Text 16"/>
          <p:cNvSpPr/>
          <p:nvPr/>
        </p:nvSpPr>
        <p:spPr>
          <a:xfrm>
            <a:off x="6148730" y="2979440"/>
            <a:ext cx="264610" cy="165298"/>
          </a:xfrm>
          <a:prstGeom prst="rect">
            <a:avLst/>
          </a:prstGeom>
          <a:noFill/>
          <a:ln/>
        </p:spPr>
        <p:txBody>
          <a:bodyPr wrap="none" lIns="0" tIns="0" rIns="0" bIns="0" rtlCol="0" anchor="ctr"/>
          <a:lstStyle/>
          <a:p>
            <a:pPr algn="l" indent="0" marL="0">
              <a:lnSpc>
                <a:spcPct val="100000"/>
              </a:lnSpc>
              <a:buNone/>
            </a:pPr>
            <a:r>
              <a:rPr lang="en-US" sz="1000" dirty="0">
                <a:solidFill>
                  <a:srgbClr val="E5E0DF"/>
                </a:solidFill>
                <a:latin typeface="Poppins Light" pitchFamily="34" charset="0"/>
                <a:ea typeface="Poppins Light" pitchFamily="34" charset="-122"/>
                <a:cs typeface="Poppins Light" pitchFamily="34" charset="-120"/>
              </a:rPr>
              <a:t>04</a:t>
            </a:r>
            <a:endParaRPr lang="en-US" sz="1000" dirty="0"/>
          </a:p>
        </p:txBody>
      </p:sp>
      <p:sp>
        <p:nvSpPr>
          <p:cNvPr id="19" name="Shape 17"/>
          <p:cNvSpPr/>
          <p:nvPr/>
        </p:nvSpPr>
        <p:spPr>
          <a:xfrm>
            <a:off x="6148730" y="3185120"/>
            <a:ext cx="5381490" cy="19050"/>
          </a:xfrm>
          <a:prstGeom prst="rect">
            <a:avLst/>
          </a:prstGeom>
          <a:solidFill>
            <a:srgbClr val="F2F2F3"/>
          </a:solidFill>
          <a:ln/>
        </p:spPr>
      </p:sp>
      <p:sp>
        <p:nvSpPr>
          <p:cNvPr id="20" name="Text 18"/>
          <p:cNvSpPr/>
          <p:nvPr/>
        </p:nvSpPr>
        <p:spPr>
          <a:xfrm>
            <a:off x="6148730" y="3289300"/>
            <a:ext cx="5381490" cy="206673"/>
          </a:xfrm>
          <a:prstGeom prst="rect">
            <a:avLst/>
          </a:prstGeom>
          <a:noFill/>
          <a:ln/>
        </p:spPr>
        <p:txBody>
          <a:bodyPr wrap="none" lIns="0" tIns="0" rIns="0" bIns="0" rtlCol="0" anchor="t"/>
          <a:lstStyle/>
          <a:p>
            <a:pPr algn="l" indent="0" marL="0">
              <a:lnSpc>
                <a:spcPct val="104000"/>
              </a:lnSpc>
              <a:buNone/>
            </a:pPr>
            <a:r>
              <a:rPr lang="en-US" sz="1300" dirty="0">
                <a:solidFill>
                  <a:srgbClr val="E5E0DF"/>
                </a:solidFill>
                <a:latin typeface="Poppins Light" pitchFamily="34" charset="0"/>
                <a:ea typeface="Poppins Light" pitchFamily="34" charset="-122"/>
                <a:cs typeface="Poppins Light" pitchFamily="34" charset="-120"/>
              </a:rPr>
              <a:t>MATCH</a:t>
            </a:r>
            <a:endParaRPr lang="en-US" sz="1300" dirty="0"/>
          </a:p>
        </p:txBody>
      </p:sp>
      <p:sp>
        <p:nvSpPr>
          <p:cNvPr id="21" name="Text 19"/>
          <p:cNvSpPr/>
          <p:nvPr/>
        </p:nvSpPr>
        <p:spPr>
          <a:xfrm>
            <a:off x="6148730" y="3559473"/>
            <a:ext cx="5381490" cy="57785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5E0DF"/>
                </a:solidFill>
                <a:latin typeface="Roboto Light" pitchFamily="34" charset="0"/>
                <a:ea typeface="Roboto Light" pitchFamily="34" charset="-122"/>
                <a:cs typeface="Roboto Light" pitchFamily="34" charset="-120"/>
              </a:rPr>
              <a:t>Every detection is checked in real time against the </a:t>
            </a:r>
            <a:pPr algn="l" indent="0" marL="0">
              <a:lnSpc>
                <a:spcPct val="120000"/>
              </a:lnSpc>
              <a:buNone/>
            </a:pPr>
            <a:r>
              <a:rPr lang="en-US" sz="1000" dirty="0">
                <a:solidFill>
                  <a:srgbClr val="E5E0DF"/>
                </a:solidFill>
                <a:highlight>
                  <a:srgbClr val="121212"/>
                </a:highlight>
                <a:latin typeface="Consolas" pitchFamily="34" charset="0"/>
                <a:ea typeface="Consolas" pitchFamily="34" charset="-122"/>
                <a:cs typeface="Consolas" pitchFamily="34" charset="-120"/>
              </a:rPr>
              <a:t>vehicles_watchlist</a:t>
            </a:r>
            <a:pPr algn="l" indent="0" marL="0">
              <a:lnSpc>
                <a:spcPct val="120000"/>
              </a:lnSpc>
              <a:buNone/>
            </a:pPr>
            <a:r>
              <a:rPr lang="en-US" sz="1000" dirty="0">
                <a:solidFill>
                  <a:srgbClr val="E5E0DF"/>
                </a:solidFill>
                <a:latin typeface="Roboto Light" pitchFamily="34" charset="0"/>
                <a:ea typeface="Roboto Light" pitchFamily="34" charset="-122"/>
                <a:cs typeface="Roboto Light" pitchFamily="34" charset="-120"/>
              </a:rPr>
              <a:t> and </a:t>
            </a:r>
            <a:pPr algn="l" indent="0" marL="0">
              <a:lnSpc>
                <a:spcPct val="120000"/>
              </a:lnSpc>
              <a:buNone/>
            </a:pPr>
            <a:r>
              <a:rPr lang="en-US" sz="1000" dirty="0">
                <a:solidFill>
                  <a:srgbClr val="E5E0DF"/>
                </a:solidFill>
                <a:highlight>
                  <a:srgbClr val="121212"/>
                </a:highlight>
                <a:latin typeface="Consolas" pitchFamily="34" charset="0"/>
                <a:ea typeface="Consolas" pitchFamily="34" charset="-122"/>
                <a:cs typeface="Consolas" pitchFamily="34" charset="-120"/>
              </a:rPr>
              <a:t>persons_watchlist</a:t>
            </a:r>
            <a:pPr algn="l" indent="0" marL="0">
              <a:lnSpc>
                <a:spcPct val="120000"/>
              </a:lnSpc>
              <a:buNone/>
            </a:pPr>
            <a:r>
              <a:rPr lang="en-US" sz="1000" dirty="0">
                <a:solidFill>
                  <a:srgbClr val="E5E0DF"/>
                </a:solidFill>
                <a:latin typeface="Roboto Light" pitchFamily="34" charset="0"/>
                <a:ea typeface="Roboto Light" pitchFamily="34" charset="-122"/>
                <a:cs typeface="Roboto Light" pitchFamily="34" charset="-120"/>
              </a:rPr>
              <a:t> tables. Plate-string matching for vehicles, 512-d cosine-similarity search over a pgvector HNSW index for faces.</a:t>
            </a:r>
            <a:endParaRPr lang="en-US" sz="1000" dirty="0"/>
          </a:p>
        </p:txBody>
      </p:sp>
      <p:sp>
        <p:nvSpPr>
          <p:cNvPr id="22" name="Text 20"/>
          <p:cNvSpPr/>
          <p:nvPr/>
        </p:nvSpPr>
        <p:spPr>
          <a:xfrm>
            <a:off x="661475" y="4342309"/>
            <a:ext cx="264610" cy="165298"/>
          </a:xfrm>
          <a:prstGeom prst="rect">
            <a:avLst/>
          </a:prstGeom>
          <a:noFill/>
          <a:ln/>
        </p:spPr>
        <p:txBody>
          <a:bodyPr wrap="none" lIns="0" tIns="0" rIns="0" bIns="0" rtlCol="0" anchor="ctr"/>
          <a:lstStyle/>
          <a:p>
            <a:pPr algn="l" indent="0" marL="0">
              <a:lnSpc>
                <a:spcPct val="100000"/>
              </a:lnSpc>
              <a:buNone/>
            </a:pPr>
            <a:r>
              <a:rPr lang="en-US" sz="1000" dirty="0">
                <a:solidFill>
                  <a:srgbClr val="E5E0DF"/>
                </a:solidFill>
                <a:latin typeface="Poppins Light" pitchFamily="34" charset="0"/>
                <a:ea typeface="Poppins Light" pitchFamily="34" charset="-122"/>
                <a:cs typeface="Poppins Light" pitchFamily="34" charset="-120"/>
              </a:rPr>
              <a:t>05</a:t>
            </a:r>
            <a:endParaRPr lang="en-US" sz="1000" dirty="0"/>
          </a:p>
        </p:txBody>
      </p:sp>
      <p:sp>
        <p:nvSpPr>
          <p:cNvPr id="23" name="Shape 21"/>
          <p:cNvSpPr/>
          <p:nvPr/>
        </p:nvSpPr>
        <p:spPr>
          <a:xfrm>
            <a:off x="661475" y="4547989"/>
            <a:ext cx="5381490" cy="19050"/>
          </a:xfrm>
          <a:prstGeom prst="rect">
            <a:avLst/>
          </a:prstGeom>
          <a:solidFill>
            <a:srgbClr val="F2F2F3"/>
          </a:solidFill>
          <a:ln/>
        </p:spPr>
      </p:sp>
      <p:sp>
        <p:nvSpPr>
          <p:cNvPr id="24" name="Text 22"/>
          <p:cNvSpPr/>
          <p:nvPr/>
        </p:nvSpPr>
        <p:spPr>
          <a:xfrm>
            <a:off x="661475" y="4652169"/>
            <a:ext cx="5381490" cy="206673"/>
          </a:xfrm>
          <a:prstGeom prst="rect">
            <a:avLst/>
          </a:prstGeom>
          <a:noFill/>
          <a:ln/>
        </p:spPr>
        <p:txBody>
          <a:bodyPr wrap="none" lIns="0" tIns="0" rIns="0" bIns="0" rtlCol="0" anchor="t"/>
          <a:lstStyle/>
          <a:p>
            <a:pPr algn="l" indent="0" marL="0">
              <a:lnSpc>
                <a:spcPct val="104000"/>
              </a:lnSpc>
              <a:buNone/>
            </a:pPr>
            <a:r>
              <a:rPr lang="en-US" sz="1300" dirty="0">
                <a:solidFill>
                  <a:srgbClr val="E5E0DF"/>
                </a:solidFill>
                <a:latin typeface="Poppins Light" pitchFamily="34" charset="0"/>
                <a:ea typeface="Poppins Light" pitchFamily="34" charset="-122"/>
                <a:cs typeface="Poppins Light" pitchFamily="34" charset="-120"/>
              </a:rPr>
              <a:t>CORRELATE</a:t>
            </a:r>
            <a:endParaRPr lang="en-US" sz="1300" dirty="0"/>
          </a:p>
        </p:txBody>
      </p:sp>
      <p:sp>
        <p:nvSpPr>
          <p:cNvPr id="25" name="Text 23"/>
          <p:cNvSpPr/>
          <p:nvPr/>
        </p:nvSpPr>
        <p:spPr>
          <a:xfrm>
            <a:off x="661475" y="4922341"/>
            <a:ext cx="5381490" cy="762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5E0DF"/>
                </a:solidFill>
                <a:latin typeface="Roboto Light" pitchFamily="34" charset="0"/>
                <a:ea typeface="Roboto Light" pitchFamily="34" charset="-122"/>
                <a:cs typeface="Roboto Light" pitchFamily="34" charset="-120"/>
              </a:rPr>
              <a:t>Matches and raw sightings alike flow into the correlation engine, which deduplicates events, resolves identity across cameras, and stitches cross-camera, cross-VMS routes using plate + timestamp joins, regardless of which department's camera or which vendor's VMS captured the sighting.</a:t>
            </a:r>
            <a:endParaRPr lang="en-US" sz="1000" dirty="0"/>
          </a:p>
        </p:txBody>
      </p:sp>
      <p:sp>
        <p:nvSpPr>
          <p:cNvPr id="26" name="Text 24"/>
          <p:cNvSpPr/>
          <p:nvPr/>
        </p:nvSpPr>
        <p:spPr>
          <a:xfrm>
            <a:off x="6148730" y="4342309"/>
            <a:ext cx="264610" cy="165298"/>
          </a:xfrm>
          <a:prstGeom prst="rect">
            <a:avLst/>
          </a:prstGeom>
          <a:noFill/>
          <a:ln/>
        </p:spPr>
        <p:txBody>
          <a:bodyPr wrap="none" lIns="0" tIns="0" rIns="0" bIns="0" rtlCol="0" anchor="ctr"/>
          <a:lstStyle/>
          <a:p>
            <a:pPr algn="l" indent="0" marL="0">
              <a:lnSpc>
                <a:spcPct val="100000"/>
              </a:lnSpc>
              <a:buNone/>
            </a:pPr>
            <a:r>
              <a:rPr lang="en-US" sz="1000" dirty="0">
                <a:solidFill>
                  <a:srgbClr val="E5E0DF"/>
                </a:solidFill>
                <a:latin typeface="Poppins Light" pitchFamily="34" charset="0"/>
                <a:ea typeface="Poppins Light" pitchFamily="34" charset="-122"/>
                <a:cs typeface="Poppins Light" pitchFamily="34" charset="-120"/>
              </a:rPr>
              <a:t>06</a:t>
            </a:r>
            <a:endParaRPr lang="en-US" sz="1000" dirty="0"/>
          </a:p>
        </p:txBody>
      </p:sp>
      <p:sp>
        <p:nvSpPr>
          <p:cNvPr id="27" name="Shape 25"/>
          <p:cNvSpPr/>
          <p:nvPr/>
        </p:nvSpPr>
        <p:spPr>
          <a:xfrm>
            <a:off x="6148730" y="4547989"/>
            <a:ext cx="5381490" cy="19050"/>
          </a:xfrm>
          <a:prstGeom prst="rect">
            <a:avLst/>
          </a:prstGeom>
          <a:solidFill>
            <a:srgbClr val="F2F2F3"/>
          </a:solidFill>
          <a:ln/>
        </p:spPr>
      </p:sp>
      <p:sp>
        <p:nvSpPr>
          <p:cNvPr id="28" name="Text 26"/>
          <p:cNvSpPr/>
          <p:nvPr/>
        </p:nvSpPr>
        <p:spPr>
          <a:xfrm>
            <a:off x="6148730" y="4652169"/>
            <a:ext cx="5381490" cy="206673"/>
          </a:xfrm>
          <a:prstGeom prst="rect">
            <a:avLst/>
          </a:prstGeom>
          <a:noFill/>
          <a:ln/>
        </p:spPr>
        <p:txBody>
          <a:bodyPr wrap="none" lIns="0" tIns="0" rIns="0" bIns="0" rtlCol="0" anchor="t"/>
          <a:lstStyle/>
          <a:p>
            <a:pPr algn="l" indent="0" marL="0">
              <a:lnSpc>
                <a:spcPct val="104000"/>
              </a:lnSpc>
              <a:buNone/>
            </a:pPr>
            <a:r>
              <a:rPr lang="en-US" sz="1300" dirty="0">
                <a:solidFill>
                  <a:srgbClr val="E5E0DF"/>
                </a:solidFill>
                <a:latin typeface="Poppins Light" pitchFamily="34" charset="0"/>
                <a:ea typeface="Poppins Light" pitchFamily="34" charset="-122"/>
                <a:cs typeface="Poppins Light" pitchFamily="34" charset="-120"/>
              </a:rPr>
              <a:t>ALERT</a:t>
            </a:r>
            <a:endParaRPr lang="en-US" sz="1300" dirty="0"/>
          </a:p>
        </p:txBody>
      </p:sp>
      <p:sp>
        <p:nvSpPr>
          <p:cNvPr id="29" name="Text 27"/>
          <p:cNvSpPr/>
          <p:nvPr/>
        </p:nvSpPr>
        <p:spPr>
          <a:xfrm>
            <a:off x="6148730" y="4922341"/>
            <a:ext cx="5381490"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5E0DF"/>
                </a:solidFill>
                <a:latin typeface="Roboto Light" pitchFamily="34" charset="0"/>
                <a:ea typeface="Roboto Light" pitchFamily="34" charset="-122"/>
                <a:cs typeface="Roboto Light" pitchFamily="34" charset="-120"/>
              </a:rPr>
              <a:t>A confirmed match triggers a severity-scored alert, broadcast via WebSocket to every connected operator dashboard in real time. GIS map, live camera grid, and federation console update simultaneously. Zero polling. Zero delay.</a:t>
            </a:r>
            <a:endParaRPr lang="en-US" sz="1000" dirty="0"/>
          </a:p>
        </p:txBody>
      </p:sp>
      <p:sp>
        <p:nvSpPr>
          <p:cNvPr id="30" name="Shape 28"/>
          <p:cNvSpPr/>
          <p:nvPr/>
        </p:nvSpPr>
        <p:spPr>
          <a:xfrm>
            <a:off x="661475" y="5902623"/>
            <a:ext cx="10868745" cy="457597"/>
          </a:xfrm>
          <a:prstGeom prst="roundRect">
            <a:avLst>
              <a:gd name="adj" fmla="val 12144"/>
            </a:avLst>
          </a:prstGeom>
          <a:solidFill>
            <a:srgbClr val="3D3D42"/>
          </a:solidFill>
          <a:ln/>
        </p:spPr>
      </p:sp>
      <p:pic>
        <p:nvPicPr>
          <p:cNvPr id="31" name="Image 0" descr="preencoded.png">    </p:cNvPr>
          <p:cNvPicPr>
            <a:picLocks noChangeAspect="1"/>
          </p:cNvPicPr>
          <p:nvPr/>
        </p:nvPicPr>
        <p:blipFill>
          <a:blip r:embed="rId1"/>
          <a:stretch>
            <a:fillRect/>
          </a:stretch>
        </p:blipFill>
        <p:spPr>
          <a:xfrm>
            <a:off x="793730" y="6058991"/>
            <a:ext cx="165294" cy="132259"/>
          </a:xfrm>
          <a:prstGeom prst="rect">
            <a:avLst/>
          </a:prstGeom>
        </p:spPr>
      </p:pic>
      <p:sp>
        <p:nvSpPr>
          <p:cNvPr id="32" name="Text 29"/>
          <p:cNvSpPr/>
          <p:nvPr/>
        </p:nvSpPr>
        <p:spPr>
          <a:xfrm>
            <a:off x="1091280" y="6041430"/>
            <a:ext cx="10916270" cy="190500"/>
          </a:xfrm>
          <a:prstGeom prst="rect">
            <a:avLst/>
          </a:prstGeom>
          <a:noFill/>
          <a:ln/>
        </p:spPr>
        <p:txBody>
          <a:bodyPr wrap="none" lIns="0" tIns="0" rIns="0" bIns="0" rtlCol="0" anchor="t"/>
          <a:lstStyle/>
          <a:p>
            <a:pPr algn="l" indent="0" marL="0">
              <a:lnSpc>
                <a:spcPct val="120000"/>
              </a:lnSpc>
              <a:buNone/>
            </a:pPr>
            <a:r>
              <a:rPr lang="en-US" sz="1000" b="1" dirty="0">
                <a:solidFill>
                  <a:srgbClr val="FFFFFF"/>
                </a:solidFill>
                <a:latin typeface="Roboto Bold" pitchFamily="34" charset="0"/>
                <a:ea typeface="Roboto Bold" pitchFamily="34" charset="-122"/>
                <a:cs typeface="Roboto Bold" pitchFamily="34" charset="-120"/>
              </a:rPr>
              <a:t>6 steps. 3 models. 1 unified pipeline, from first frame to operator alert.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534392"/>
            <a:ext cx="1341206" cy="226219"/>
          </a:xfrm>
          <a:prstGeom prst="roundRect">
            <a:avLst>
              <a:gd name="adj" fmla="val 22109"/>
            </a:avLst>
          </a:prstGeom>
          <a:noFill/>
          <a:ln w="6350">
            <a:solidFill>
              <a:srgbClr val="F2F2F3"/>
            </a:solidFill>
            <a:prstDash val="solid"/>
          </a:ln>
        </p:spPr>
      </p:sp>
      <p:sp>
        <p:nvSpPr>
          <p:cNvPr id="3" name="Text 1"/>
          <p:cNvSpPr/>
          <p:nvPr/>
        </p:nvSpPr>
        <p:spPr>
          <a:xfrm>
            <a:off x="750769" y="579041"/>
            <a:ext cx="1772201" cy="136922"/>
          </a:xfrm>
          <a:prstGeom prst="rect">
            <a:avLst/>
          </a:prstGeom>
          <a:noFill/>
          <a:ln/>
        </p:spPr>
        <p:txBody>
          <a:bodyPr wrap="none" lIns="0" tIns="0" rIns="0" bIns="0" rtlCol="0" anchor="t"/>
          <a:lstStyle/>
          <a:p>
            <a:pPr algn="l" indent="0" marL="0">
              <a:lnSpc>
                <a:spcPct val="96000"/>
              </a:lnSpc>
              <a:buNone/>
            </a:pPr>
            <a:r>
              <a:rPr lang="en-US" sz="900" dirty="0">
                <a:solidFill>
                  <a:srgbClr val="F2F2F3"/>
                </a:solidFill>
                <a:latin typeface="Roboto Light" pitchFamily="34" charset="0"/>
                <a:ea typeface="Roboto Light" pitchFamily="34" charset="-122"/>
                <a:cs typeface="Roboto Light" pitchFamily="34" charset="-120"/>
              </a:rPr>
              <a:t>DATA ARCHITECTURE</a:t>
            </a:r>
            <a:endParaRPr lang="en-US" sz="900" dirty="0"/>
          </a:p>
        </p:txBody>
      </p:sp>
      <p:sp>
        <p:nvSpPr>
          <p:cNvPr id="4" name="Text 2"/>
          <p:cNvSpPr/>
          <p:nvPr/>
        </p:nvSpPr>
        <p:spPr>
          <a:xfrm>
            <a:off x="661475" y="814189"/>
            <a:ext cx="10868745" cy="465138"/>
          </a:xfrm>
          <a:prstGeom prst="rect">
            <a:avLst/>
          </a:prstGeom>
          <a:noFill/>
          <a:ln/>
        </p:spPr>
        <p:txBody>
          <a:bodyPr wrap="none" lIns="0" tIns="0" rIns="0" bIns="0" rtlCol="0" anchor="t"/>
          <a:lstStyle/>
          <a:p>
            <a:pPr algn="l" indent="0" marL="0">
              <a:lnSpc>
                <a:spcPct val="104000"/>
              </a:lnSpc>
              <a:buNone/>
            </a:pPr>
            <a:r>
              <a:rPr lang="en-US" sz="2900" dirty="0">
                <a:solidFill>
                  <a:srgbClr val="F2F2F3"/>
                </a:solidFill>
                <a:latin typeface="Poppins Light" pitchFamily="34" charset="0"/>
                <a:ea typeface="Poppins Light" pitchFamily="34" charset="-122"/>
                <a:cs typeface="Poppins Light" pitchFamily="34" charset="-120"/>
              </a:rPr>
              <a:t>One Schema. Twelve Tables. Zero Data Silos.</a:t>
            </a:r>
            <a:endParaRPr lang="en-US" sz="2900" dirty="0"/>
          </a:p>
        </p:txBody>
      </p:sp>
      <p:sp>
        <p:nvSpPr>
          <p:cNvPr id="5" name="Text 3"/>
          <p:cNvSpPr/>
          <p:nvPr/>
        </p:nvSpPr>
        <p:spPr>
          <a:xfrm>
            <a:off x="661475" y="1480245"/>
            <a:ext cx="11478330" cy="226219"/>
          </a:xfrm>
          <a:prstGeom prst="rect">
            <a:avLst/>
          </a:prstGeom>
          <a:noFill/>
          <a:ln/>
        </p:spPr>
        <p:txBody>
          <a:bodyPr wrap="none" lIns="0" tIns="0" rIns="0" bIns="0" rtlCol="0" anchor="t"/>
          <a:lstStyle/>
          <a:p>
            <a:pPr algn="l" indent="0" marL="0">
              <a:lnSpc>
                <a:spcPct val="127000"/>
              </a:lnSpc>
              <a:buNone/>
            </a:pPr>
            <a:r>
              <a:rPr lang="en-US" sz="1150" dirty="0">
                <a:solidFill>
                  <a:srgbClr val="E5E0DF"/>
                </a:solidFill>
                <a:latin typeface="Roboto Light" pitchFamily="34" charset="0"/>
                <a:ea typeface="Roboto Light" pitchFamily="34" charset="-122"/>
                <a:cs typeface="Roboto Light" pitchFamily="34" charset="-120"/>
              </a:rPr>
              <a:t>Every model reads and writes the same PostgreSQL 16 database. There is no "Model 1 database" and "Model 2 database."</a:t>
            </a:r>
            <a:endParaRPr lang="en-US" sz="1150" dirty="0"/>
          </a:p>
        </p:txBody>
      </p:sp>
      <p:sp>
        <p:nvSpPr>
          <p:cNvPr id="6" name="Text 4"/>
          <p:cNvSpPr/>
          <p:nvPr/>
        </p:nvSpPr>
        <p:spPr>
          <a:xfrm>
            <a:off x="661475" y="1991122"/>
            <a:ext cx="5252807" cy="232470"/>
          </a:xfrm>
          <a:prstGeom prst="rect">
            <a:avLst/>
          </a:prstGeom>
          <a:noFill/>
          <a:ln/>
        </p:spPr>
        <p:txBody>
          <a:bodyPr wrap="none" lIns="0" tIns="0" rIns="0" bIns="0" rtlCol="0" anchor="t"/>
          <a:lstStyle/>
          <a:p>
            <a:pPr algn="l" indent="0" marL="0">
              <a:lnSpc>
                <a:spcPct val="104000"/>
              </a:lnSpc>
              <a:buNone/>
            </a:pPr>
            <a:r>
              <a:rPr lang="en-US" sz="1450" dirty="0">
                <a:solidFill>
                  <a:srgbClr val="F2F2F3"/>
                </a:solidFill>
                <a:latin typeface="Poppins Light" pitchFamily="34" charset="0"/>
                <a:ea typeface="Poppins Light" pitchFamily="34" charset="-122"/>
                <a:cs typeface="Poppins Light" pitchFamily="34" charset="-120"/>
              </a:rPr>
              <a:t>CORE REGISTRY LAYER</a:t>
            </a:r>
            <a:endParaRPr lang="en-US" sz="1450" dirty="0"/>
          </a:p>
        </p:txBody>
      </p:sp>
      <p:sp>
        <p:nvSpPr>
          <p:cNvPr id="7" name="Text 5"/>
          <p:cNvSpPr/>
          <p:nvPr/>
        </p:nvSpPr>
        <p:spPr>
          <a:xfrm>
            <a:off x="661475" y="2357537"/>
            <a:ext cx="5252807" cy="2534444"/>
          </a:xfrm>
          <a:prstGeom prst="rect">
            <a:avLst/>
          </a:prstGeom>
          <a:noFill/>
          <a:ln/>
        </p:spPr>
        <p:txBody>
          <a:bodyPr wrap="square" lIns="0" tIns="0" rIns="0" bIns="0" rtlCol="0" anchor="t">
            <a:normAutofit/>
          </a:bodyPr>
          <a:lstStyle/>
          <a:p>
            <a:pPr algn="l" marL="233680" indent="-233680">
              <a:lnSpc>
                <a:spcPct val="127000"/>
              </a:lnSpc>
              <a:buSzPct val="100000"/>
              <a:buChar char="•"/>
            </a:pPr>
            <a:r>
              <a:rPr lang="en-US" sz="1150" dirty="0">
                <a:solidFill>
                  <a:srgbClr val="E5E0DF"/>
                </a:solidFill>
                <a:highlight>
                  <a:srgbClr val="121212"/>
                </a:highlight>
                <a:latin typeface="Consolas" pitchFamily="34" charset="0"/>
                <a:ea typeface="Consolas" pitchFamily="34" charset="-122"/>
                <a:cs typeface="Consolas" pitchFamily="34" charset="-120"/>
              </a:rPr>
              <a:t>departments</a:t>
            </a:r>
            <a:pPr algn="l" marL="233680" indent="-233680">
              <a:lnSpc>
                <a:spcPct val="127000"/>
              </a:lnSpc>
              <a:buSzPct val="100000"/>
              <a:buChar char="•"/>
            </a:pPr>
            <a:r>
              <a:rPr lang="en-US" sz="1150" dirty="0">
                <a:solidFill>
                  <a:srgbClr val="E5E0DF"/>
                </a:solidFill>
                <a:latin typeface="Roboto Light" pitchFamily="34" charset="0"/>
                <a:ea typeface="Roboto Light" pitchFamily="34" charset="-122"/>
                <a:cs typeface="Roboto Light" pitchFamily="34" charset="-120"/>
              </a:rPr>
              <a:t>: government department directory (Home/Police, RTO, Municipal Corporation, and more)</a:t>
            </a:r>
            <a:endParaRPr lang="en-US" sz="1150" dirty="0"/>
          </a:p>
          <a:p>
            <a:pPr algn="l" marL="233680" indent="-233680">
              <a:lnSpc>
                <a:spcPct val="127000"/>
              </a:lnSpc>
              <a:buSzPct val="100000"/>
              <a:buChar char="•"/>
            </a:pPr>
            <a:r>
              <a:rPr lang="en-US" sz="1150" dirty="0">
                <a:solidFill>
                  <a:srgbClr val="E5E0DF"/>
                </a:solidFill>
                <a:highlight>
                  <a:srgbClr val="121212"/>
                </a:highlight>
                <a:latin typeface="Consolas" pitchFamily="34" charset="0"/>
                <a:ea typeface="Consolas" pitchFamily="34" charset="-122"/>
                <a:cs typeface="Consolas" pitchFamily="34" charset="-120"/>
              </a:rPr>
              <a:t>districts</a:t>
            </a:r>
            <a:pPr algn="l" marL="233680" indent="-233680">
              <a:lnSpc>
                <a:spcPct val="127000"/>
              </a:lnSpc>
              <a:buSzPct val="100000"/>
              <a:buChar char="•"/>
            </a:pPr>
            <a:r>
              <a:rPr lang="en-US" sz="1150" dirty="0">
                <a:solidFill>
                  <a:srgbClr val="E5E0DF"/>
                </a:solidFill>
                <a:latin typeface="Roboto Light" pitchFamily="34" charset="0"/>
                <a:ea typeface="Roboto Light" pitchFamily="34" charset="-122"/>
                <a:cs typeface="Roboto Light" pitchFamily="34" charset="-120"/>
              </a:rPr>
              <a:t>: all of Gujarat's 33 districts, each with a PostGIS MULTIPOLYGON boundary for spatial queries</a:t>
            </a:r>
            <a:endParaRPr lang="en-US" sz="1150" dirty="0"/>
          </a:p>
          <a:p>
            <a:pPr algn="l" marL="233680" indent="-233680">
              <a:lnSpc>
                <a:spcPct val="127000"/>
              </a:lnSpc>
              <a:buSzPct val="100000"/>
              <a:buChar char="•"/>
            </a:pPr>
            <a:r>
              <a:rPr lang="en-US" sz="1150" dirty="0">
                <a:solidFill>
                  <a:srgbClr val="E5E0DF"/>
                </a:solidFill>
                <a:highlight>
                  <a:srgbClr val="121212"/>
                </a:highlight>
                <a:latin typeface="Consolas" pitchFamily="34" charset="0"/>
                <a:ea typeface="Consolas" pitchFamily="34" charset="-122"/>
                <a:cs typeface="Consolas" pitchFamily="34" charset="-120"/>
              </a:rPr>
              <a:t>users</a:t>
            </a:r>
            <a:pPr algn="l" marL="233680" indent="-233680">
              <a:lnSpc>
                <a:spcPct val="127000"/>
              </a:lnSpc>
              <a:buSzPct val="100000"/>
              <a:buChar char="•"/>
            </a:pPr>
            <a:r>
              <a:rPr lang="en-US" sz="1150" dirty="0">
                <a:solidFill>
                  <a:srgbClr val="E5E0DF"/>
                </a:solidFill>
                <a:latin typeface="Roboto Light" pitchFamily="34" charset="0"/>
                <a:ea typeface="Roboto Light" pitchFamily="34" charset="-122"/>
                <a:cs typeface="Roboto Light" pitchFamily="34" charset="-120"/>
              </a:rPr>
              <a:t>: role-based accounts (</a:t>
            </a:r>
            <a:pPr algn="l" marL="233680" indent="-233680">
              <a:lnSpc>
                <a:spcPct val="127000"/>
              </a:lnSpc>
              <a:buSzPct val="100000"/>
              <a:buChar char="•"/>
            </a:pPr>
            <a:r>
              <a:rPr lang="en-US" sz="1150" dirty="0">
                <a:solidFill>
                  <a:srgbClr val="E5E0DF"/>
                </a:solidFill>
                <a:highlight>
                  <a:srgbClr val="121212"/>
                </a:highlight>
                <a:latin typeface="Consolas" pitchFamily="34" charset="0"/>
                <a:ea typeface="Consolas" pitchFamily="34" charset="-122"/>
                <a:cs typeface="Consolas" pitchFamily="34" charset="-120"/>
              </a:rPr>
              <a:t>dept_admin</a:t>
            </a:r>
            <a:pPr algn="l" marL="233680" indent="-233680">
              <a:lnSpc>
                <a:spcPct val="127000"/>
              </a:lnSpc>
              <a:buSzPct val="100000"/>
              <a:buChar char="•"/>
            </a:pPr>
            <a:r>
              <a:rPr lang="en-US" sz="1150" dirty="0">
                <a:solidFill>
                  <a:srgbClr val="E5E0DF"/>
                </a:solidFill>
                <a:latin typeface="Roboto Light" pitchFamily="34" charset="0"/>
                <a:ea typeface="Roboto Light" pitchFamily="34" charset="-122"/>
                <a:cs typeface="Roboto Light" pitchFamily="34" charset="-120"/>
              </a:rPr>
              <a:t>, </a:t>
            </a:r>
            <a:pPr algn="l" marL="233680" indent="-233680">
              <a:lnSpc>
                <a:spcPct val="127000"/>
              </a:lnSpc>
              <a:buSzPct val="100000"/>
              <a:buChar char="•"/>
            </a:pPr>
            <a:r>
              <a:rPr lang="en-US" sz="1150" dirty="0">
                <a:solidFill>
                  <a:srgbClr val="E5E0DF"/>
                </a:solidFill>
                <a:highlight>
                  <a:srgbClr val="121212"/>
                </a:highlight>
                <a:latin typeface="Consolas" pitchFamily="34" charset="0"/>
                <a:ea typeface="Consolas" pitchFamily="34" charset="-122"/>
                <a:cs typeface="Consolas" pitchFamily="34" charset="-120"/>
              </a:rPr>
              <a:t>operator</a:t>
            </a:r>
            <a:pPr algn="l" marL="233680" indent="-233680">
              <a:lnSpc>
                <a:spcPct val="127000"/>
              </a:lnSpc>
              <a:buSzPct val="100000"/>
              <a:buChar char="•"/>
            </a:pPr>
            <a:r>
              <a:rPr lang="en-US" sz="1150" dirty="0">
                <a:solidFill>
                  <a:srgbClr val="E5E0DF"/>
                </a:solidFill>
                <a:latin typeface="Roboto Light" pitchFamily="34" charset="0"/>
                <a:ea typeface="Roboto Light" pitchFamily="34" charset="-122"/>
                <a:cs typeface="Roboto Light" pitchFamily="34" charset="-120"/>
              </a:rPr>
              <a:t>, </a:t>
            </a:r>
            <a:pPr algn="l" marL="233680" indent="-233680">
              <a:lnSpc>
                <a:spcPct val="127000"/>
              </a:lnSpc>
              <a:buSzPct val="100000"/>
              <a:buChar char="•"/>
            </a:pPr>
            <a:r>
              <a:rPr lang="en-US" sz="1150" dirty="0">
                <a:solidFill>
                  <a:srgbClr val="E5E0DF"/>
                </a:solidFill>
                <a:highlight>
                  <a:srgbClr val="121212"/>
                </a:highlight>
                <a:latin typeface="Consolas" pitchFamily="34" charset="0"/>
                <a:ea typeface="Consolas" pitchFamily="34" charset="-122"/>
                <a:cs typeface="Consolas" pitchFamily="34" charset="-120"/>
              </a:rPr>
              <a:t>viewer</a:t>
            </a:r>
            <a:pPr algn="l" marL="233680" indent="-233680">
              <a:lnSpc>
                <a:spcPct val="127000"/>
              </a:lnSpc>
              <a:buSzPct val="100000"/>
              <a:buChar char="•"/>
            </a:pPr>
            <a:r>
              <a:rPr lang="en-US" sz="1150" dirty="0">
                <a:solidFill>
                  <a:srgbClr val="E5E0DF"/>
                </a:solidFill>
                <a:latin typeface="Roboto Light" pitchFamily="34" charset="0"/>
                <a:ea typeface="Roboto Light" pitchFamily="34" charset="-122"/>
                <a:cs typeface="Roboto Light" pitchFamily="34" charset="-120"/>
              </a:rPr>
              <a:t>)</a:t>
            </a:r>
            <a:endParaRPr lang="en-US" sz="1150" dirty="0"/>
          </a:p>
          <a:p>
            <a:pPr algn="l" marL="233680" indent="-233680">
              <a:lnSpc>
                <a:spcPct val="127000"/>
              </a:lnSpc>
              <a:buSzPct val="100000"/>
              <a:buChar char="•"/>
            </a:pPr>
            <a:r>
              <a:rPr lang="en-US" sz="1150" dirty="0">
                <a:solidFill>
                  <a:srgbClr val="E5E0DF"/>
                </a:solidFill>
                <a:highlight>
                  <a:srgbClr val="121212"/>
                </a:highlight>
                <a:latin typeface="Consolas" pitchFamily="34" charset="0"/>
                <a:ea typeface="Consolas" pitchFamily="34" charset="-122"/>
                <a:cs typeface="Consolas" pitchFamily="34" charset="-120"/>
              </a:rPr>
              <a:t>cameras</a:t>
            </a:r>
            <a:pPr algn="l" marL="233680" indent="-233680">
              <a:lnSpc>
                <a:spcPct val="127000"/>
              </a:lnSpc>
              <a:buSzPct val="100000"/>
              <a:buChar char="•"/>
            </a:pPr>
            <a:r>
              <a:rPr lang="en-US" sz="1150" dirty="0">
                <a:solidFill>
                  <a:srgbClr val="E5E0DF"/>
                </a:solidFill>
                <a:latin typeface="Roboto Light" pitchFamily="34" charset="0"/>
                <a:ea typeface="Roboto Light" pitchFamily="34" charset="-122"/>
                <a:cs typeface="Roboto Light" pitchFamily="34" charset="-120"/>
              </a:rPr>
              <a:t>: the central hub table. Registry fields, grid-sync fields, and VMS-linkage fields, all on one row per camera</a:t>
            </a:r>
            <a:endParaRPr lang="en-US" sz="1150" dirty="0"/>
          </a:p>
          <a:p>
            <a:pPr algn="l" marL="233680" indent="-233680">
              <a:lnSpc>
                <a:spcPct val="127000"/>
              </a:lnSpc>
              <a:buSzPct val="100000"/>
              <a:buChar char="•"/>
            </a:pPr>
            <a:r>
              <a:rPr lang="en-US" sz="1150" dirty="0">
                <a:solidFill>
                  <a:srgbClr val="E5E0DF"/>
                </a:solidFill>
                <a:highlight>
                  <a:srgbClr val="121212"/>
                </a:highlight>
                <a:latin typeface="Consolas" pitchFamily="34" charset="0"/>
                <a:ea typeface="Consolas" pitchFamily="34" charset="-122"/>
                <a:cs typeface="Consolas" pitchFamily="34" charset="-120"/>
              </a:rPr>
              <a:t>vms_systems</a:t>
            </a:r>
            <a:pPr algn="l" marL="233680" indent="-233680">
              <a:lnSpc>
                <a:spcPct val="127000"/>
              </a:lnSpc>
              <a:buSzPct val="100000"/>
              <a:buChar char="•"/>
            </a:pPr>
            <a:r>
              <a:rPr lang="en-US" sz="1150" dirty="0">
                <a:solidFill>
                  <a:srgbClr val="E5E0DF"/>
                </a:solidFill>
                <a:latin typeface="Roboto Light" pitchFamily="34" charset="0"/>
                <a:ea typeface="Roboto Light" pitchFamily="34" charset="-122"/>
                <a:cs typeface="Roboto Light" pitchFamily="34" charset="-120"/>
              </a:rPr>
              <a:t>: one row per federated vendor VMS integration, tracking vendor, protocol, adapter type, and live connection status</a:t>
            </a:r>
            <a:endParaRPr lang="en-US" sz="1150" dirty="0"/>
          </a:p>
          <a:p>
            <a:pPr algn="l" marL="233680" indent="-233680">
              <a:lnSpc>
                <a:spcPct val="127000"/>
              </a:lnSpc>
              <a:buSzPct val="100000"/>
              <a:buChar char="•"/>
            </a:pPr>
            <a:r>
              <a:rPr lang="en-US" sz="1150" dirty="0">
                <a:solidFill>
                  <a:srgbClr val="E5E0DF"/>
                </a:solidFill>
                <a:highlight>
                  <a:srgbClr val="121212"/>
                </a:highlight>
                <a:latin typeface="Consolas" pitchFamily="34" charset="0"/>
                <a:ea typeface="Consolas" pitchFamily="34" charset="-122"/>
                <a:cs typeface="Consolas" pitchFamily="34" charset="-120"/>
              </a:rPr>
              <a:t>status_history</a:t>
            </a:r>
            <a:pPr algn="l" marL="233680" indent="-233680">
              <a:lnSpc>
                <a:spcPct val="127000"/>
              </a:lnSpc>
              <a:buSzPct val="100000"/>
              <a:buChar char="•"/>
            </a:pPr>
            <a:r>
              <a:rPr lang="en-US" sz="1150" dirty="0">
                <a:solidFill>
                  <a:srgbClr val="E5E0DF"/>
                </a:solidFill>
                <a:latin typeface="Roboto Light" pitchFamily="34" charset="0"/>
                <a:ea typeface="Roboto Light" pitchFamily="34" charset="-122"/>
                <a:cs typeface="Roboto Light" pitchFamily="34" charset="-120"/>
              </a:rPr>
              <a:t>: full trigger-written audit trail of every camera change</a:t>
            </a:r>
            <a:endParaRPr lang="en-US" sz="1150" dirty="0"/>
          </a:p>
        </p:txBody>
      </p:sp>
      <p:sp>
        <p:nvSpPr>
          <p:cNvPr id="8" name="Text 6"/>
          <p:cNvSpPr/>
          <p:nvPr/>
        </p:nvSpPr>
        <p:spPr>
          <a:xfrm>
            <a:off x="6283763" y="1991122"/>
            <a:ext cx="5252807" cy="232470"/>
          </a:xfrm>
          <a:prstGeom prst="rect">
            <a:avLst/>
          </a:prstGeom>
          <a:noFill/>
          <a:ln/>
        </p:spPr>
        <p:txBody>
          <a:bodyPr wrap="none" lIns="0" tIns="0" rIns="0" bIns="0" rtlCol="0" anchor="t"/>
          <a:lstStyle/>
          <a:p>
            <a:pPr algn="l" indent="0" marL="0">
              <a:lnSpc>
                <a:spcPct val="104000"/>
              </a:lnSpc>
              <a:buNone/>
            </a:pPr>
            <a:r>
              <a:rPr lang="en-US" sz="1450" dirty="0">
                <a:solidFill>
                  <a:srgbClr val="F2F2F3"/>
                </a:solidFill>
                <a:latin typeface="Poppins Light" pitchFamily="34" charset="0"/>
                <a:ea typeface="Poppins Light" pitchFamily="34" charset="-122"/>
                <a:cs typeface="Poppins Light" pitchFamily="34" charset="-120"/>
              </a:rPr>
              <a:t>LIVE ANALYTICS LAYER</a:t>
            </a:r>
            <a:endParaRPr lang="en-US" sz="1450" dirty="0"/>
          </a:p>
        </p:txBody>
      </p:sp>
      <p:sp>
        <p:nvSpPr>
          <p:cNvPr id="9" name="Text 7"/>
          <p:cNvSpPr/>
          <p:nvPr/>
        </p:nvSpPr>
        <p:spPr>
          <a:xfrm>
            <a:off x="6283763" y="2357537"/>
            <a:ext cx="5252807" cy="2760662"/>
          </a:xfrm>
          <a:prstGeom prst="rect">
            <a:avLst/>
          </a:prstGeom>
          <a:noFill/>
          <a:ln/>
        </p:spPr>
        <p:txBody>
          <a:bodyPr wrap="square" lIns="0" tIns="0" rIns="0" bIns="0" rtlCol="0" anchor="t">
            <a:normAutofit/>
          </a:bodyPr>
          <a:lstStyle/>
          <a:p>
            <a:pPr algn="l" marL="233680" indent="-233680">
              <a:lnSpc>
                <a:spcPct val="127000"/>
              </a:lnSpc>
              <a:buSzPct val="100000"/>
              <a:buChar char="•"/>
            </a:pPr>
            <a:r>
              <a:rPr lang="en-US" sz="1150" dirty="0">
                <a:solidFill>
                  <a:srgbClr val="E5E0DF"/>
                </a:solidFill>
                <a:highlight>
                  <a:srgbClr val="121212"/>
                </a:highlight>
                <a:latin typeface="Consolas" pitchFamily="34" charset="0"/>
                <a:ea typeface="Consolas" pitchFamily="34" charset="-122"/>
                <a:cs typeface="Consolas" pitchFamily="34" charset="-120"/>
              </a:rPr>
              <a:t>vehicles_watchlist</a:t>
            </a:r>
            <a:pPr algn="l" marL="233680" indent="-233680">
              <a:lnSpc>
                <a:spcPct val="127000"/>
              </a:lnSpc>
              <a:buSzPct val="100000"/>
              <a:buChar char="•"/>
            </a:pPr>
            <a:r>
              <a:rPr lang="en-US" sz="1150" dirty="0">
                <a:solidFill>
                  <a:srgbClr val="E5E0DF"/>
                </a:solidFill>
                <a:latin typeface="Roboto Light" pitchFamily="34" charset="0"/>
                <a:ea typeface="Roboto Light" pitchFamily="34" charset="-122"/>
                <a:cs typeface="Roboto Light" pitchFamily="34" charset="-120"/>
              </a:rPr>
              <a:t>: stolen / wanted / blacklisted plate registry</a:t>
            </a:r>
            <a:endParaRPr lang="en-US" sz="1150" dirty="0"/>
          </a:p>
          <a:p>
            <a:pPr algn="l" marL="233680" indent="-233680">
              <a:lnSpc>
                <a:spcPct val="127000"/>
              </a:lnSpc>
              <a:buSzPct val="100000"/>
              <a:buChar char="•"/>
            </a:pPr>
            <a:r>
              <a:rPr lang="en-US" sz="1150" dirty="0">
                <a:solidFill>
                  <a:srgbClr val="E5E0DF"/>
                </a:solidFill>
                <a:highlight>
                  <a:srgbClr val="121212"/>
                </a:highlight>
                <a:latin typeface="Consolas" pitchFamily="34" charset="0"/>
                <a:ea typeface="Consolas" pitchFamily="34" charset="-122"/>
                <a:cs typeface="Consolas" pitchFamily="34" charset="-120"/>
              </a:rPr>
              <a:t>persons_watchlist</a:t>
            </a:r>
            <a:pPr algn="l" marL="233680" indent="-233680">
              <a:lnSpc>
                <a:spcPct val="127000"/>
              </a:lnSpc>
              <a:buSzPct val="100000"/>
              <a:buChar char="•"/>
            </a:pPr>
            <a:r>
              <a:rPr lang="en-US" sz="1150" dirty="0">
                <a:solidFill>
                  <a:srgbClr val="E5E0DF"/>
                </a:solidFill>
                <a:latin typeface="Roboto Light" pitchFamily="34" charset="0"/>
                <a:ea typeface="Roboto Light" pitchFamily="34" charset="-122"/>
                <a:cs typeface="Roboto Light" pitchFamily="34" charset="-120"/>
              </a:rPr>
              <a:t>: wanted / missing / suspect registry with a 512-dimension VECTOR face embedding column</a:t>
            </a:r>
            <a:endParaRPr lang="en-US" sz="1150" dirty="0"/>
          </a:p>
          <a:p>
            <a:pPr algn="l" marL="233680" indent="-233680">
              <a:lnSpc>
                <a:spcPct val="127000"/>
              </a:lnSpc>
              <a:buSzPct val="100000"/>
              <a:buChar char="•"/>
            </a:pPr>
            <a:r>
              <a:rPr lang="en-US" sz="1150" dirty="0">
                <a:solidFill>
                  <a:srgbClr val="E5E0DF"/>
                </a:solidFill>
                <a:highlight>
                  <a:srgbClr val="121212"/>
                </a:highlight>
                <a:latin typeface="Consolas" pitchFamily="34" charset="0"/>
                <a:ea typeface="Consolas" pitchFamily="34" charset="-122"/>
                <a:cs typeface="Consolas" pitchFamily="34" charset="-120"/>
              </a:rPr>
              <a:t>vehicle_tracks</a:t>
            </a:r>
            <a:pPr algn="l" marL="233680" indent="-233680">
              <a:lnSpc>
                <a:spcPct val="127000"/>
              </a:lnSpc>
              <a:buSzPct val="100000"/>
              <a:buChar char="•"/>
            </a:pPr>
            <a:r>
              <a:rPr lang="en-US" sz="1150" dirty="0">
                <a:solidFill>
                  <a:srgbClr val="E5E0DF"/>
                </a:solidFill>
                <a:latin typeface="Roboto Light" pitchFamily="34" charset="0"/>
                <a:ea typeface="Roboto Light" pitchFamily="34" charset="-122"/>
                <a:cs typeface="Roboto Light" pitchFamily="34" charset="-120"/>
              </a:rPr>
              <a:t>: resolved global vehicle identity across sightings, with its own appearance embedding for fallback re-identification</a:t>
            </a:r>
            <a:endParaRPr lang="en-US" sz="1150" dirty="0"/>
          </a:p>
          <a:p>
            <a:pPr algn="l" marL="233680" indent="-233680">
              <a:lnSpc>
                <a:spcPct val="127000"/>
              </a:lnSpc>
              <a:buSzPct val="100000"/>
              <a:buChar char="•"/>
            </a:pPr>
            <a:r>
              <a:rPr lang="en-US" sz="1150" dirty="0">
                <a:solidFill>
                  <a:srgbClr val="E5E0DF"/>
                </a:solidFill>
                <a:highlight>
                  <a:srgbClr val="121212"/>
                </a:highlight>
                <a:latin typeface="Consolas" pitchFamily="34" charset="0"/>
                <a:ea typeface="Consolas" pitchFamily="34" charset="-122"/>
                <a:cs typeface="Consolas" pitchFamily="34" charset="-120"/>
              </a:rPr>
              <a:t>detections</a:t>
            </a:r>
            <a:pPr algn="l" marL="233680" indent="-233680">
              <a:lnSpc>
                <a:spcPct val="127000"/>
              </a:lnSpc>
              <a:buSzPct val="100000"/>
              <a:buChar char="•"/>
            </a:pPr>
            <a:r>
              <a:rPr lang="en-US" sz="1150" dirty="0">
                <a:solidFill>
                  <a:srgbClr val="E5E0DF"/>
                </a:solidFill>
                <a:latin typeface="Roboto Light" pitchFamily="34" charset="0"/>
                <a:ea typeface="Roboto Light" pitchFamily="34" charset="-122"/>
                <a:cs typeface="Roboto Light" pitchFamily="34" charset="-120"/>
              </a:rPr>
              <a:t>: every individual sighting. Plate read, confidence score, cropped image, raw vendor payload preserved for audit</a:t>
            </a:r>
            <a:endParaRPr lang="en-US" sz="1150" dirty="0"/>
          </a:p>
          <a:p>
            <a:pPr algn="l" marL="233680" indent="-233680">
              <a:lnSpc>
                <a:spcPct val="127000"/>
              </a:lnSpc>
              <a:buSzPct val="100000"/>
              <a:buChar char="•"/>
            </a:pPr>
            <a:r>
              <a:rPr lang="en-US" sz="1150" dirty="0">
                <a:solidFill>
                  <a:srgbClr val="E5E0DF"/>
                </a:solidFill>
                <a:highlight>
                  <a:srgbClr val="121212"/>
                </a:highlight>
                <a:latin typeface="Consolas" pitchFamily="34" charset="0"/>
                <a:ea typeface="Consolas" pitchFamily="34" charset="-122"/>
                <a:cs typeface="Consolas" pitchFamily="34" charset="-120"/>
              </a:rPr>
              <a:t>alerts</a:t>
            </a:r>
            <a:pPr algn="l" marL="233680" indent="-233680">
              <a:lnSpc>
                <a:spcPct val="127000"/>
              </a:lnSpc>
              <a:buSzPct val="100000"/>
              <a:buChar char="•"/>
            </a:pPr>
            <a:r>
              <a:rPr lang="en-US" sz="1150" dirty="0">
                <a:solidFill>
                  <a:srgbClr val="E5E0DF"/>
                </a:solidFill>
                <a:latin typeface="Roboto Light" pitchFamily="34" charset="0"/>
                <a:ea typeface="Roboto Light" pitchFamily="34" charset="-122"/>
                <a:cs typeface="Roboto Light" pitchFamily="34" charset="-120"/>
              </a:rPr>
              <a:t>: vehicle-watchlist match events with severity scoring and operator acknowledgment tracking</a:t>
            </a:r>
            <a:endParaRPr lang="en-US" sz="1150" dirty="0"/>
          </a:p>
          <a:p>
            <a:pPr algn="l" marL="233680" indent="-233680">
              <a:lnSpc>
                <a:spcPct val="127000"/>
              </a:lnSpc>
              <a:buSzPct val="100000"/>
              <a:buChar char="•"/>
            </a:pPr>
            <a:r>
              <a:rPr lang="en-US" sz="1150" dirty="0">
                <a:solidFill>
                  <a:srgbClr val="E5E0DF"/>
                </a:solidFill>
                <a:highlight>
                  <a:srgbClr val="121212"/>
                </a:highlight>
                <a:latin typeface="Consolas" pitchFamily="34" charset="0"/>
                <a:ea typeface="Consolas" pitchFamily="34" charset="-122"/>
                <a:cs typeface="Consolas" pitchFamily="34" charset="-120"/>
              </a:rPr>
              <a:t>person_alerts</a:t>
            </a:r>
            <a:pPr algn="l" marL="233680" indent="-233680">
              <a:lnSpc>
                <a:spcPct val="127000"/>
              </a:lnSpc>
              <a:buSzPct val="100000"/>
              <a:buChar char="•"/>
            </a:pPr>
            <a:r>
              <a:rPr lang="en-US" sz="1150" dirty="0">
                <a:solidFill>
                  <a:srgbClr val="E5E0DF"/>
                </a:solidFill>
                <a:latin typeface="Roboto Light" pitchFamily="34" charset="0"/>
                <a:ea typeface="Roboto Light" pitchFamily="34" charset="-122"/>
                <a:cs typeface="Roboto Light" pitchFamily="34" charset="-120"/>
              </a:rPr>
              <a:t>: face-watchlist match events with similarity score and cosine distance recorded per match</a:t>
            </a:r>
            <a:endParaRPr lang="en-US" sz="1150" dirty="0"/>
          </a:p>
        </p:txBody>
      </p:sp>
      <p:sp>
        <p:nvSpPr>
          <p:cNvPr id="10" name="Shape 8"/>
          <p:cNvSpPr/>
          <p:nvPr/>
        </p:nvSpPr>
        <p:spPr>
          <a:xfrm>
            <a:off x="661475" y="5315744"/>
            <a:ext cx="3533587" cy="1007765"/>
          </a:xfrm>
          <a:prstGeom prst="roundRect">
            <a:avLst>
              <a:gd name="adj" fmla="val 6204"/>
            </a:avLst>
          </a:prstGeom>
          <a:solidFill>
            <a:srgbClr val="3D3D42"/>
          </a:solidFill>
          <a:ln w="6350">
            <a:solidFill>
              <a:srgbClr val="56565B"/>
            </a:solidFill>
            <a:prstDash val="solid"/>
          </a:ln>
        </p:spPr>
      </p:sp>
      <p:sp>
        <p:nvSpPr>
          <p:cNvPr id="11" name="Text 9"/>
          <p:cNvSpPr/>
          <p:nvPr/>
        </p:nvSpPr>
        <p:spPr>
          <a:xfrm>
            <a:off x="816649" y="5470922"/>
            <a:ext cx="3223239" cy="232470"/>
          </a:xfrm>
          <a:prstGeom prst="rect">
            <a:avLst/>
          </a:prstGeom>
          <a:noFill/>
          <a:ln/>
        </p:spPr>
        <p:txBody>
          <a:bodyPr wrap="none" lIns="0" tIns="0" rIns="0" bIns="0" rtlCol="0" anchor="t"/>
          <a:lstStyle/>
          <a:p>
            <a:pPr algn="l" indent="0" marL="0">
              <a:lnSpc>
                <a:spcPct val="104000"/>
              </a:lnSpc>
              <a:buNone/>
            </a:pPr>
            <a:r>
              <a:rPr lang="en-US" sz="1450" dirty="0">
                <a:solidFill>
                  <a:srgbClr val="E5E0DF"/>
                </a:solidFill>
                <a:latin typeface="Poppins Light" pitchFamily="34" charset="0"/>
                <a:ea typeface="Poppins Light" pitchFamily="34" charset="-122"/>
                <a:cs typeface="Poppins Light" pitchFamily="34" charset="-120"/>
              </a:rPr>
              <a:t>12 tables, 1 schema</a:t>
            </a:r>
            <a:endParaRPr lang="en-US" sz="1450" dirty="0"/>
          </a:p>
        </p:txBody>
      </p:sp>
      <p:sp>
        <p:nvSpPr>
          <p:cNvPr id="12" name="Shape 10"/>
          <p:cNvSpPr/>
          <p:nvPr/>
        </p:nvSpPr>
        <p:spPr>
          <a:xfrm>
            <a:off x="4329004" y="5315744"/>
            <a:ext cx="3533587" cy="1007765"/>
          </a:xfrm>
          <a:prstGeom prst="roundRect">
            <a:avLst>
              <a:gd name="adj" fmla="val 6204"/>
            </a:avLst>
          </a:prstGeom>
          <a:solidFill>
            <a:srgbClr val="3D3D42"/>
          </a:solidFill>
          <a:ln w="6350">
            <a:solidFill>
              <a:srgbClr val="56565B"/>
            </a:solidFill>
            <a:prstDash val="solid"/>
          </a:ln>
        </p:spPr>
      </p:sp>
      <p:sp>
        <p:nvSpPr>
          <p:cNvPr id="13" name="Text 11"/>
          <p:cNvSpPr/>
          <p:nvPr/>
        </p:nvSpPr>
        <p:spPr>
          <a:xfrm>
            <a:off x="4484178" y="5470922"/>
            <a:ext cx="3223239" cy="464939"/>
          </a:xfrm>
          <a:prstGeom prst="rect">
            <a:avLst/>
          </a:prstGeom>
          <a:noFill/>
          <a:ln/>
        </p:spPr>
        <p:txBody>
          <a:bodyPr wrap="square" lIns="0" tIns="0" rIns="0" bIns="0" rtlCol="0" anchor="t">
            <a:normAutofit/>
          </a:bodyPr>
          <a:lstStyle/>
          <a:p>
            <a:pPr algn="l" indent="0" marL="0">
              <a:lnSpc>
                <a:spcPct val="104000"/>
              </a:lnSpc>
              <a:buNone/>
            </a:pPr>
            <a:r>
              <a:rPr lang="en-US" sz="1450" dirty="0">
                <a:solidFill>
                  <a:srgbClr val="E5E0DF"/>
                </a:solidFill>
                <a:latin typeface="Poppins Light" pitchFamily="34" charset="0"/>
                <a:ea typeface="Poppins Light" pitchFamily="34" charset="-122"/>
                <a:cs typeface="Poppins Light" pitchFamily="34" charset="-120"/>
              </a:rPr>
              <a:t>512-D vectors, HNSW-indexed for sub-linear similarity search</a:t>
            </a:r>
            <a:endParaRPr lang="en-US" sz="1450" dirty="0"/>
          </a:p>
        </p:txBody>
      </p:sp>
      <p:sp>
        <p:nvSpPr>
          <p:cNvPr id="14" name="Shape 12"/>
          <p:cNvSpPr/>
          <p:nvPr/>
        </p:nvSpPr>
        <p:spPr>
          <a:xfrm>
            <a:off x="7996534" y="5315744"/>
            <a:ext cx="3533587" cy="1007765"/>
          </a:xfrm>
          <a:prstGeom prst="roundRect">
            <a:avLst>
              <a:gd name="adj" fmla="val 6204"/>
            </a:avLst>
          </a:prstGeom>
          <a:solidFill>
            <a:srgbClr val="3D3D42"/>
          </a:solidFill>
          <a:ln w="6350">
            <a:solidFill>
              <a:srgbClr val="56565B"/>
            </a:solidFill>
            <a:prstDash val="solid"/>
          </a:ln>
        </p:spPr>
      </p:sp>
      <p:sp>
        <p:nvSpPr>
          <p:cNvPr id="15" name="Text 13"/>
          <p:cNvSpPr/>
          <p:nvPr/>
        </p:nvSpPr>
        <p:spPr>
          <a:xfrm>
            <a:off x="8151708" y="5470922"/>
            <a:ext cx="3223239" cy="697409"/>
          </a:xfrm>
          <a:prstGeom prst="rect">
            <a:avLst/>
          </a:prstGeom>
          <a:noFill/>
          <a:ln/>
        </p:spPr>
        <p:txBody>
          <a:bodyPr wrap="square" lIns="0" tIns="0" rIns="0" bIns="0" rtlCol="0" anchor="t">
            <a:normAutofit/>
          </a:bodyPr>
          <a:lstStyle/>
          <a:p>
            <a:pPr algn="l" indent="0" marL="0">
              <a:lnSpc>
                <a:spcPct val="104000"/>
              </a:lnSpc>
              <a:buNone/>
            </a:pPr>
            <a:r>
              <a:rPr lang="en-US" sz="1450" dirty="0">
                <a:solidFill>
                  <a:srgbClr val="E5E0DF"/>
                </a:solidFill>
                <a:latin typeface="Poppins Light" pitchFamily="34" charset="0"/>
                <a:ea typeface="Poppins Light" pitchFamily="34" charset="-122"/>
                <a:cs typeface="Poppins Light" pitchFamily="34" charset="-120"/>
              </a:rPr>
              <a:t>PostGIS geography types on 3 tables. Real spatial math, not lat/lng strings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574477"/>
            <a:ext cx="1096241" cy="251420"/>
          </a:xfrm>
          <a:prstGeom prst="roundRect">
            <a:avLst>
              <a:gd name="adj" fmla="val 22103"/>
            </a:avLst>
          </a:prstGeom>
          <a:noFill/>
          <a:ln w="6350">
            <a:solidFill>
              <a:srgbClr val="F2F2F3"/>
            </a:solidFill>
            <a:prstDash val="solid"/>
          </a:ln>
        </p:spPr>
      </p:sp>
      <p:sp>
        <p:nvSpPr>
          <p:cNvPr id="3" name="Text 1"/>
          <p:cNvSpPr/>
          <p:nvPr/>
        </p:nvSpPr>
        <p:spPr>
          <a:xfrm>
            <a:off x="760691" y="624086"/>
            <a:ext cx="1507393" cy="152202"/>
          </a:xfrm>
          <a:prstGeom prst="rect">
            <a:avLst/>
          </a:prstGeom>
          <a:noFill/>
          <a:ln/>
        </p:spPr>
        <p:txBody>
          <a:bodyPr wrap="none" lIns="0" tIns="0" rIns="0" bIns="0" rtlCol="0" anchor="t"/>
          <a:lstStyle/>
          <a:p>
            <a:pPr algn="l" indent="0" marL="0">
              <a:lnSpc>
                <a:spcPct val="96000"/>
              </a:lnSpc>
              <a:buNone/>
            </a:pPr>
            <a:r>
              <a:rPr lang="en-US" sz="1000" dirty="0">
                <a:solidFill>
                  <a:srgbClr val="F2F2F3"/>
                </a:solidFill>
                <a:latin typeface="Roboto Light" pitchFamily="34" charset="0"/>
                <a:ea typeface="Roboto Light" pitchFamily="34" charset="-122"/>
                <a:cs typeface="Roboto Light" pitchFamily="34" charset="-120"/>
              </a:rPr>
              <a:t>KEY FEATURES</a:t>
            </a:r>
            <a:endParaRPr lang="en-US" sz="1000" dirty="0"/>
          </a:p>
        </p:txBody>
      </p:sp>
      <p:sp>
        <p:nvSpPr>
          <p:cNvPr id="4" name="Text 2"/>
          <p:cNvSpPr/>
          <p:nvPr/>
        </p:nvSpPr>
        <p:spPr>
          <a:xfrm>
            <a:off x="661475" y="891977"/>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F2F2F3"/>
                </a:solidFill>
                <a:latin typeface="Poppins Light" pitchFamily="34" charset="0"/>
                <a:ea typeface="Poppins Light" pitchFamily="34" charset="-122"/>
                <a:cs typeface="Poppins Light" pitchFamily="34" charset="-120"/>
              </a:rPr>
              <a:t>Built to Actually Ship, Not Just Demo</a:t>
            </a:r>
            <a:endParaRPr lang="en-US" sz="3250" dirty="0"/>
          </a:p>
        </p:txBody>
      </p:sp>
      <p:sp>
        <p:nvSpPr>
          <p:cNvPr id="5" name="Shape 3"/>
          <p:cNvSpPr/>
          <p:nvPr/>
        </p:nvSpPr>
        <p:spPr>
          <a:xfrm>
            <a:off x="661475" y="1656755"/>
            <a:ext cx="5351725" cy="1255613"/>
          </a:xfrm>
          <a:prstGeom prst="roundRect">
            <a:avLst>
              <a:gd name="adj" fmla="val 5532"/>
            </a:avLst>
          </a:prstGeom>
          <a:solidFill>
            <a:srgbClr val="050505"/>
          </a:solidFill>
          <a:ln w="19050">
            <a:solidFill>
              <a:srgbClr val="56565B"/>
            </a:solidFill>
            <a:prstDash val="solid"/>
          </a:ln>
        </p:spPr>
      </p:sp>
      <p:sp>
        <p:nvSpPr>
          <p:cNvPr id="6" name="Text 4"/>
          <p:cNvSpPr/>
          <p:nvPr/>
        </p:nvSpPr>
        <p:spPr>
          <a:xfrm>
            <a:off x="845819" y="1841103"/>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E5E0DF"/>
                </a:solidFill>
                <a:latin typeface="Poppins Light" pitchFamily="34" charset="0"/>
                <a:ea typeface="Poppins Light" pitchFamily="34" charset="-122"/>
                <a:cs typeface="Poppins Light" pitchFamily="34" charset="-120"/>
              </a:rPr>
              <a:t>Unified Camera Registry</a:t>
            </a:r>
            <a:endParaRPr lang="en-US" sz="1600" dirty="0"/>
          </a:p>
        </p:txBody>
      </p:sp>
      <p:sp>
        <p:nvSpPr>
          <p:cNvPr id="7" name="Text 5"/>
          <p:cNvSpPr/>
          <p:nvPr/>
        </p:nvSpPr>
        <p:spPr>
          <a:xfrm>
            <a:off x="845819" y="2198787"/>
            <a:ext cx="4983038"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E5E0DF"/>
                </a:solidFill>
                <a:latin typeface="Roboto Light" pitchFamily="34" charset="0"/>
                <a:ea typeface="Roboto Light" pitchFamily="34" charset="-122"/>
                <a:cs typeface="Roboto Light" pitchFamily="34" charset="-120"/>
              </a:rPr>
              <a:t>One CRUD interface, full department/district-scoped RBAC, bulk CSV import with row-level validation and partial-success reporting.</a:t>
            </a:r>
            <a:endParaRPr lang="en-US" sz="1300" dirty="0"/>
          </a:p>
        </p:txBody>
      </p:sp>
      <p:sp>
        <p:nvSpPr>
          <p:cNvPr id="8" name="Shape 6"/>
          <p:cNvSpPr/>
          <p:nvPr/>
        </p:nvSpPr>
        <p:spPr>
          <a:xfrm>
            <a:off x="6178495" y="1656755"/>
            <a:ext cx="5351725" cy="1255613"/>
          </a:xfrm>
          <a:prstGeom prst="roundRect">
            <a:avLst>
              <a:gd name="adj" fmla="val 5532"/>
            </a:avLst>
          </a:prstGeom>
          <a:solidFill>
            <a:srgbClr val="050505"/>
          </a:solidFill>
          <a:ln w="19050">
            <a:solidFill>
              <a:srgbClr val="56565B"/>
            </a:solidFill>
            <a:prstDash val="solid"/>
          </a:ln>
        </p:spPr>
      </p:sp>
      <p:sp>
        <p:nvSpPr>
          <p:cNvPr id="9" name="Text 7"/>
          <p:cNvSpPr/>
          <p:nvPr/>
        </p:nvSpPr>
        <p:spPr>
          <a:xfrm>
            <a:off x="6362838" y="1841103"/>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E5E0DF"/>
                </a:solidFill>
                <a:latin typeface="Poppins Light" pitchFamily="34" charset="0"/>
                <a:ea typeface="Poppins Light" pitchFamily="34" charset="-122"/>
                <a:cs typeface="Poppins Light" pitchFamily="34" charset="-120"/>
              </a:rPr>
              <a:t>Real Geospatial Gap Analysis</a:t>
            </a:r>
            <a:endParaRPr lang="en-US" sz="1600" dirty="0"/>
          </a:p>
        </p:txBody>
      </p:sp>
      <p:sp>
        <p:nvSpPr>
          <p:cNvPr id="10" name="Text 8"/>
          <p:cNvSpPr/>
          <p:nvPr/>
        </p:nvSpPr>
        <p:spPr>
          <a:xfrm>
            <a:off x="6362838" y="2198787"/>
            <a:ext cx="4983038"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E5E0DF"/>
                </a:solidFill>
                <a:latin typeface="Roboto Light" pitchFamily="34" charset="0"/>
                <a:ea typeface="Roboto Light" pitchFamily="34" charset="-122"/>
                <a:cs typeface="Roboto Light" pitchFamily="34" charset="-120"/>
              </a:rPr>
              <a:t>PostGIS geodesic 1km-buffer computation identifies actual coverage gaps. Not a heatmap guess.</a:t>
            </a:r>
            <a:endParaRPr lang="en-US" sz="1300" dirty="0"/>
          </a:p>
        </p:txBody>
      </p:sp>
      <p:sp>
        <p:nvSpPr>
          <p:cNvPr id="11" name="Shape 9"/>
          <p:cNvSpPr/>
          <p:nvPr/>
        </p:nvSpPr>
        <p:spPr>
          <a:xfrm>
            <a:off x="661475" y="3077666"/>
            <a:ext cx="5351725" cy="1520230"/>
          </a:xfrm>
          <a:prstGeom prst="roundRect">
            <a:avLst>
              <a:gd name="adj" fmla="val 4569"/>
            </a:avLst>
          </a:prstGeom>
          <a:solidFill>
            <a:srgbClr val="050505"/>
          </a:solidFill>
          <a:ln w="19050">
            <a:solidFill>
              <a:srgbClr val="56565B"/>
            </a:solidFill>
            <a:prstDash val="solid"/>
          </a:ln>
        </p:spPr>
      </p:sp>
      <p:sp>
        <p:nvSpPr>
          <p:cNvPr id="12" name="Text 10"/>
          <p:cNvSpPr/>
          <p:nvPr/>
        </p:nvSpPr>
        <p:spPr>
          <a:xfrm>
            <a:off x="845819" y="3262015"/>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E5E0DF"/>
                </a:solidFill>
                <a:latin typeface="Poppins Light" pitchFamily="34" charset="0"/>
                <a:ea typeface="Poppins Light" pitchFamily="34" charset="-122"/>
                <a:cs typeface="Poppins Light" pitchFamily="34" charset="-120"/>
              </a:rPr>
              <a:t>Live Dual-Modality AI Detection</a:t>
            </a:r>
            <a:endParaRPr lang="en-US" sz="1600" dirty="0"/>
          </a:p>
        </p:txBody>
      </p:sp>
      <p:sp>
        <p:nvSpPr>
          <p:cNvPr id="13" name="Text 11"/>
          <p:cNvSpPr/>
          <p:nvPr/>
        </p:nvSpPr>
        <p:spPr>
          <a:xfrm>
            <a:off x="845819" y="3619698"/>
            <a:ext cx="4983038"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E5E0DF"/>
                </a:solidFill>
                <a:latin typeface="Roboto Light" pitchFamily="34" charset="0"/>
                <a:ea typeface="Roboto Light" pitchFamily="34" charset="-122"/>
                <a:cs typeface="Roboto Light" pitchFamily="34" charset="-120"/>
              </a:rPr>
              <a:t>Simultaneous vehicle detection (YOLO + ByteTrack) and face detection (5-gate quality pipeline + 512-d embeddings) on live and pre-recorded feeds up to 2GB per upload.</a:t>
            </a:r>
            <a:endParaRPr lang="en-US" sz="1300" dirty="0"/>
          </a:p>
        </p:txBody>
      </p:sp>
      <p:sp>
        <p:nvSpPr>
          <p:cNvPr id="14" name="Shape 12"/>
          <p:cNvSpPr/>
          <p:nvPr/>
        </p:nvSpPr>
        <p:spPr>
          <a:xfrm>
            <a:off x="6178495" y="3077666"/>
            <a:ext cx="5351725" cy="1520230"/>
          </a:xfrm>
          <a:prstGeom prst="roundRect">
            <a:avLst>
              <a:gd name="adj" fmla="val 4569"/>
            </a:avLst>
          </a:prstGeom>
          <a:solidFill>
            <a:srgbClr val="050505"/>
          </a:solidFill>
          <a:ln w="19050">
            <a:solidFill>
              <a:srgbClr val="56565B"/>
            </a:solidFill>
            <a:prstDash val="solid"/>
          </a:ln>
        </p:spPr>
      </p:sp>
      <p:sp>
        <p:nvSpPr>
          <p:cNvPr id="15" name="Text 13"/>
          <p:cNvSpPr/>
          <p:nvPr/>
        </p:nvSpPr>
        <p:spPr>
          <a:xfrm>
            <a:off x="6362838" y="3262015"/>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E5E0DF"/>
                </a:solidFill>
                <a:latin typeface="Poppins Light" pitchFamily="34" charset="0"/>
                <a:ea typeface="Poppins Light" pitchFamily="34" charset="-122"/>
                <a:cs typeface="Poppins Light" pitchFamily="34" charset="-120"/>
              </a:rPr>
              <a:t>Cross-Camera Route Reconstruction</a:t>
            </a:r>
            <a:endParaRPr lang="en-US" sz="1600" dirty="0"/>
          </a:p>
        </p:txBody>
      </p:sp>
      <p:sp>
        <p:nvSpPr>
          <p:cNvPr id="16" name="Text 14"/>
          <p:cNvSpPr/>
          <p:nvPr/>
        </p:nvSpPr>
        <p:spPr>
          <a:xfrm>
            <a:off x="6362838" y="3619698"/>
            <a:ext cx="4983038"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E5E0DF"/>
                </a:solidFill>
                <a:latin typeface="Roboto Light" pitchFamily="34" charset="0"/>
                <a:ea typeface="Roboto Light" pitchFamily="34" charset="-122"/>
                <a:cs typeface="Roboto Light" pitchFamily="34" charset="-120"/>
              </a:rPr>
              <a:t>Plate + timestamp joins reconstruct a vehicle's path across cameras and across vendor VMS boundaries. Something no single-vendor VMS can do today.</a:t>
            </a:r>
            <a:endParaRPr lang="en-US" sz="1300" dirty="0"/>
          </a:p>
        </p:txBody>
      </p:sp>
      <p:sp>
        <p:nvSpPr>
          <p:cNvPr id="17" name="Shape 15"/>
          <p:cNvSpPr/>
          <p:nvPr/>
        </p:nvSpPr>
        <p:spPr>
          <a:xfrm>
            <a:off x="661475" y="4763195"/>
            <a:ext cx="5351725" cy="1520230"/>
          </a:xfrm>
          <a:prstGeom prst="roundRect">
            <a:avLst>
              <a:gd name="adj" fmla="val 4569"/>
            </a:avLst>
          </a:prstGeom>
          <a:solidFill>
            <a:srgbClr val="050505"/>
          </a:solidFill>
          <a:ln w="19050">
            <a:solidFill>
              <a:srgbClr val="56565B"/>
            </a:solidFill>
            <a:prstDash val="solid"/>
          </a:ln>
        </p:spPr>
      </p:sp>
      <p:sp>
        <p:nvSpPr>
          <p:cNvPr id="18" name="Text 16"/>
          <p:cNvSpPr/>
          <p:nvPr/>
        </p:nvSpPr>
        <p:spPr>
          <a:xfrm>
            <a:off x="845819" y="4947543"/>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E5E0DF"/>
                </a:solidFill>
                <a:latin typeface="Poppins Light" pitchFamily="34" charset="0"/>
                <a:ea typeface="Poppins Light" pitchFamily="34" charset="-122"/>
                <a:cs typeface="Poppins Light" pitchFamily="34" charset="-120"/>
              </a:rPr>
              <a:t>Zero-Code Vendor Onboarding</a:t>
            </a:r>
            <a:endParaRPr lang="en-US" sz="1600" dirty="0"/>
          </a:p>
        </p:txBody>
      </p:sp>
      <p:sp>
        <p:nvSpPr>
          <p:cNvPr id="19" name="Text 17"/>
          <p:cNvSpPr/>
          <p:nvPr/>
        </p:nvSpPr>
        <p:spPr>
          <a:xfrm>
            <a:off x="845819" y="5305227"/>
            <a:ext cx="4983038"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E5E0DF"/>
                </a:solidFill>
                <a:latin typeface="Roboto Light" pitchFamily="34" charset="0"/>
                <a:ea typeface="Roboto Light" pitchFamily="34" charset="-122"/>
                <a:cs typeface="Roboto Light" pitchFamily="34" charset="-120"/>
              </a:rPr>
              <a:t>Any ONVIF-compliant device or generic REST camera API onboards through a configuration form and live test-connection check. No new adapter code required.</a:t>
            </a:r>
            <a:endParaRPr lang="en-US" sz="1300" dirty="0"/>
          </a:p>
        </p:txBody>
      </p:sp>
      <p:sp>
        <p:nvSpPr>
          <p:cNvPr id="20" name="Shape 18"/>
          <p:cNvSpPr/>
          <p:nvPr/>
        </p:nvSpPr>
        <p:spPr>
          <a:xfrm>
            <a:off x="6178495" y="4763195"/>
            <a:ext cx="5351725" cy="1520230"/>
          </a:xfrm>
          <a:prstGeom prst="roundRect">
            <a:avLst>
              <a:gd name="adj" fmla="val 4569"/>
            </a:avLst>
          </a:prstGeom>
          <a:solidFill>
            <a:srgbClr val="050505"/>
          </a:solidFill>
          <a:ln w="19050">
            <a:solidFill>
              <a:srgbClr val="56565B"/>
            </a:solidFill>
            <a:prstDash val="solid"/>
          </a:ln>
        </p:spPr>
      </p:sp>
      <p:sp>
        <p:nvSpPr>
          <p:cNvPr id="21" name="Text 19"/>
          <p:cNvSpPr/>
          <p:nvPr/>
        </p:nvSpPr>
        <p:spPr>
          <a:xfrm>
            <a:off x="6362838" y="4947543"/>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E5E0DF"/>
                </a:solidFill>
                <a:latin typeface="Poppins Light" pitchFamily="34" charset="0"/>
                <a:ea typeface="Poppins Light" pitchFamily="34" charset="-122"/>
                <a:cs typeface="Poppins Light" pitchFamily="34" charset="-120"/>
              </a:rPr>
              <a:t>Sub-Second Real-Time Alerting</a:t>
            </a:r>
            <a:endParaRPr lang="en-US" sz="1600" dirty="0"/>
          </a:p>
        </p:txBody>
      </p:sp>
      <p:sp>
        <p:nvSpPr>
          <p:cNvPr id="22" name="Text 20"/>
          <p:cNvSpPr/>
          <p:nvPr/>
        </p:nvSpPr>
        <p:spPr>
          <a:xfrm>
            <a:off x="6362838" y="5305227"/>
            <a:ext cx="4983038"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E5E0DF"/>
                </a:solidFill>
                <a:latin typeface="Roboto Light" pitchFamily="34" charset="0"/>
                <a:ea typeface="Roboto Light" pitchFamily="34" charset="-122"/>
                <a:cs typeface="Roboto Light" pitchFamily="34" charset="-120"/>
              </a:rPr>
              <a:t>WebSocket-pushed alerts hit every connected operator dashboard the instant a watchlist match is confirmed. No polling, no refresh delay.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500261"/>
            <a:ext cx="1623079" cy="226219"/>
          </a:xfrm>
          <a:prstGeom prst="roundRect">
            <a:avLst>
              <a:gd name="adj" fmla="val 22109"/>
            </a:avLst>
          </a:prstGeom>
          <a:noFill/>
          <a:ln w="6350">
            <a:solidFill>
              <a:srgbClr val="F2F2F3"/>
            </a:solidFill>
            <a:prstDash val="solid"/>
          </a:ln>
        </p:spPr>
      </p:sp>
      <p:sp>
        <p:nvSpPr>
          <p:cNvPr id="3" name="Text 1"/>
          <p:cNvSpPr/>
          <p:nvPr/>
        </p:nvSpPr>
        <p:spPr>
          <a:xfrm>
            <a:off x="750769" y="544909"/>
            <a:ext cx="2054074" cy="136922"/>
          </a:xfrm>
          <a:prstGeom prst="rect">
            <a:avLst/>
          </a:prstGeom>
          <a:noFill/>
          <a:ln/>
        </p:spPr>
        <p:txBody>
          <a:bodyPr wrap="none" lIns="0" tIns="0" rIns="0" bIns="0" rtlCol="0" anchor="t"/>
          <a:lstStyle/>
          <a:p>
            <a:pPr algn="l" indent="0" marL="0">
              <a:lnSpc>
                <a:spcPct val="96000"/>
              </a:lnSpc>
              <a:buNone/>
            </a:pPr>
            <a:r>
              <a:rPr lang="en-US" sz="900" dirty="0">
                <a:solidFill>
                  <a:srgbClr val="F2F2F3"/>
                </a:solidFill>
                <a:latin typeface="Roboto Light" pitchFamily="34" charset="0"/>
                <a:ea typeface="Roboto Light" pitchFamily="34" charset="-122"/>
                <a:cs typeface="Roboto Light" pitchFamily="34" charset="-120"/>
              </a:rPr>
              <a:t>COMPETITIVE ADVANTAGE</a:t>
            </a:r>
            <a:endParaRPr lang="en-US" sz="900" dirty="0"/>
          </a:p>
        </p:txBody>
      </p:sp>
      <p:sp>
        <p:nvSpPr>
          <p:cNvPr id="4" name="Text 2"/>
          <p:cNvSpPr/>
          <p:nvPr/>
        </p:nvSpPr>
        <p:spPr>
          <a:xfrm>
            <a:off x="661475" y="780058"/>
            <a:ext cx="10868745" cy="465138"/>
          </a:xfrm>
          <a:prstGeom prst="rect">
            <a:avLst/>
          </a:prstGeom>
          <a:noFill/>
          <a:ln/>
        </p:spPr>
        <p:txBody>
          <a:bodyPr wrap="none" lIns="0" tIns="0" rIns="0" bIns="0" rtlCol="0" anchor="t"/>
          <a:lstStyle/>
          <a:p>
            <a:pPr algn="l" indent="0" marL="0">
              <a:lnSpc>
                <a:spcPct val="104000"/>
              </a:lnSpc>
              <a:buNone/>
            </a:pPr>
            <a:r>
              <a:rPr lang="en-US" sz="2900" dirty="0">
                <a:solidFill>
                  <a:srgbClr val="F2F2F3"/>
                </a:solidFill>
                <a:latin typeface="Poppins Light" pitchFamily="34" charset="0"/>
                <a:ea typeface="Poppins Light" pitchFamily="34" charset="-122"/>
                <a:cs typeface="Poppins Light" pitchFamily="34" charset="-120"/>
              </a:rPr>
              <a:t>Why Not Just Use [Vendor]'s Own VMS?</a:t>
            </a:r>
            <a:endParaRPr lang="en-US" sz="2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1475" y="1446113"/>
          <a:ext cx="9143771" cy="914400"/>
        </p:xfrm>
        <a:graphic>
          <a:graphicData uri="http://schemas.openxmlformats.org/drawingml/2006/table">
            <a:tbl>
              <a:tblPr/>
              <a:tblGrid>
                <a:gridCol w="3622915"/>
                <a:gridCol w="3622915"/>
                <a:gridCol w="3622915"/>
              </a:tblGrid>
              <a:tr h="402818">
                <a:tc>
                  <a:txBody>
                    <a:bodyPr/>
                    <a:lstStyle/>
                    <a:p>
                      <a:pPr indent="0" marL="0">
                        <a:buNone/>
                      </a:pPr>
                      <a:r>
                        <a:rPr lang="en-US" sz="1150" b="1" dirty="0">
                          <a:solidFill>
                            <a:srgbClr val="E5E0DF"/>
                          </a:solidFill>
                          <a:latin typeface="Roboto" pitchFamily="34" charset="0"/>
                          <a:ea typeface="Roboto" pitchFamily="34" charset="-122"/>
                          <a:cs typeface="Roboto" pitchFamily="34" charset="-120"/>
                        </a:rPr>
                        <a:t>Capability</a:t>
                      </a:r>
                      <a:endParaRPr lang="en-US" sz="1150" dirty="0">
                        <a:latin typeface="Roboto" charset="0"/>
                        <a:ea typeface="Roboto" charset="0"/>
                        <a:cs typeface="Roboto" charset="0"/>
                      </a:endParaRPr>
                    </a:p>
                  </a:txBody>
                  <a:tcPr marL="148852" marR="148852" marT="6350" marB="6350" anchor="ctr">
                    <a:lnL w="12700" cap="flat" cmpd="sng" algn="ctr">
                      <a:solidFill>
                        <a:srgbClr val="414141"/>
                      </a:solidFill>
                      <a:prstDash val="solid"/>
                      <a:round/>
                      <a:headEnd type="none" w="med" len="med"/>
                      <a:tailEnd type="none" w="med" len="med"/>
                    </a:lnL>
                    <a:lnR w="12700" cap="flat" cmpd="sng" algn="ctr">
                      <a:solidFill>
                        <a:srgbClr val="414141"/>
                      </a:solidFill>
                      <a:prstDash val="solid"/>
                      <a:round/>
                      <a:headEnd type="none" w="med" len="med"/>
                      <a:tailEnd type="none" w="med" len="med"/>
                    </a:lnR>
                    <a:lnT w="12700" cap="flat" cmpd="sng" algn="ctr">
                      <a:solidFill>
                        <a:srgbClr val="414141"/>
                      </a:solidFill>
                      <a:prstDash val="solid"/>
                      <a:round/>
                      <a:headEnd type="none" w="med" len="med"/>
                      <a:tailEnd type="none" w="med" len="med"/>
                    </a:lnT>
                    <a:lnB w="12700" cap="flat" cmpd="sng" algn="ctr">
                      <a:solidFill>
                        <a:srgbClr val="414141"/>
                      </a:solidFill>
                      <a:prstDash val="solid"/>
                      <a:round/>
                      <a:headEnd type="none" w="med" len="med"/>
                      <a:tailEnd type="none" w="med" len="med"/>
                    </a:lnB>
                    <a:solidFill>
                      <a:srgbClr val="050505"/>
                    </a:solidFill>
                  </a:tcPr>
                </a:tc>
                <a:tc>
                  <a:txBody>
                    <a:bodyPr/>
                    <a:lstStyle/>
                    <a:p>
                      <a:pPr indent="0" marL="0">
                        <a:buNone/>
                      </a:pPr>
                      <a:r>
                        <a:rPr lang="en-US" sz="1150" b="1" dirty="0">
                          <a:solidFill>
                            <a:srgbClr val="E5E0DF"/>
                          </a:solidFill>
                          <a:latin typeface="Roboto" pitchFamily="34" charset="0"/>
                          <a:ea typeface="Roboto" pitchFamily="34" charset="-122"/>
                          <a:cs typeface="Roboto" pitchFamily="34" charset="-120"/>
                        </a:rPr>
                        <a:t>Legacy Single-Vendor VMS</a:t>
                      </a:r>
                      <a:endParaRPr lang="en-US" sz="1150" dirty="0">
                        <a:latin typeface="Roboto" charset="0"/>
                        <a:ea typeface="Roboto" charset="0"/>
                        <a:cs typeface="Roboto" charset="0"/>
                      </a:endParaRPr>
                    </a:p>
                  </a:txBody>
                  <a:tcPr marL="148852" marR="148852" marT="6350" marB="6350" anchor="ctr">
                    <a:lnL w="12700" cap="flat" cmpd="sng" algn="ctr">
                      <a:solidFill>
                        <a:srgbClr val="414141"/>
                      </a:solidFill>
                      <a:prstDash val="solid"/>
                      <a:round/>
                      <a:headEnd type="none" w="med" len="med"/>
                      <a:tailEnd type="none" w="med" len="med"/>
                    </a:lnL>
                    <a:lnR w="12700" cap="flat" cmpd="sng" algn="ctr">
                      <a:solidFill>
                        <a:srgbClr val="414141"/>
                      </a:solidFill>
                      <a:prstDash val="solid"/>
                      <a:round/>
                      <a:headEnd type="none" w="med" len="med"/>
                      <a:tailEnd type="none" w="med" len="med"/>
                    </a:lnR>
                    <a:lnT w="12700" cap="flat" cmpd="sng" algn="ctr">
                      <a:solidFill>
                        <a:srgbClr val="414141"/>
                      </a:solidFill>
                      <a:prstDash val="solid"/>
                      <a:round/>
                      <a:headEnd type="none" w="med" len="med"/>
                      <a:tailEnd type="none" w="med" len="med"/>
                    </a:lnT>
                    <a:lnB w="12700" cap="flat" cmpd="sng" algn="ctr">
                      <a:solidFill>
                        <a:srgbClr val="414141"/>
                      </a:solidFill>
                      <a:prstDash val="solid"/>
                      <a:round/>
                      <a:headEnd type="none" w="med" len="med"/>
                      <a:tailEnd type="none" w="med" len="med"/>
                    </a:lnB>
                    <a:solidFill>
                      <a:srgbClr val="050505"/>
                    </a:solidFill>
                  </a:tcPr>
                </a:tc>
                <a:tc>
                  <a:txBody>
                    <a:bodyPr/>
                    <a:lstStyle/>
                    <a:p>
                      <a:pPr indent="0" marL="0">
                        <a:buNone/>
                      </a:pPr>
                      <a:r>
                        <a:rPr lang="en-US" sz="1150" b="1" dirty="0">
                          <a:solidFill>
                            <a:srgbClr val="E5E0DF"/>
                          </a:solidFill>
                          <a:latin typeface="Roboto" pitchFamily="34" charset="0"/>
                          <a:ea typeface="Roboto" pitchFamily="34" charset="-122"/>
                          <a:cs typeface="Roboto" pitchFamily="34" charset="-120"/>
                        </a:rPr>
                        <a:t>EyesOnGuj</a:t>
                      </a:r>
                      <a:endParaRPr lang="en-US" sz="1150" dirty="0">
                        <a:latin typeface="Roboto" charset="0"/>
                        <a:ea typeface="Roboto" charset="0"/>
                        <a:cs typeface="Roboto" charset="0"/>
                      </a:endParaRPr>
                    </a:p>
                  </a:txBody>
                  <a:tcPr marL="148852" marR="148852" marT="6350" marB="6350" anchor="ctr">
                    <a:lnL w="12700" cap="flat" cmpd="sng" algn="ctr">
                      <a:solidFill>
                        <a:srgbClr val="414141"/>
                      </a:solidFill>
                      <a:prstDash val="solid"/>
                      <a:round/>
                      <a:headEnd type="none" w="med" len="med"/>
                      <a:tailEnd type="none" w="med" len="med"/>
                    </a:lnL>
                    <a:lnR w="12700" cap="flat" cmpd="sng" algn="ctr">
                      <a:solidFill>
                        <a:srgbClr val="414141"/>
                      </a:solidFill>
                      <a:prstDash val="solid"/>
                      <a:round/>
                      <a:headEnd type="none" w="med" len="med"/>
                      <a:tailEnd type="none" w="med" len="med"/>
                    </a:lnR>
                    <a:lnT w="12700" cap="flat" cmpd="sng" algn="ctr">
                      <a:solidFill>
                        <a:srgbClr val="414141"/>
                      </a:solidFill>
                      <a:prstDash val="solid"/>
                      <a:round/>
                      <a:headEnd type="none" w="med" len="med"/>
                      <a:tailEnd type="none" w="med" len="med"/>
                    </a:lnT>
                    <a:lnB w="12700" cap="flat" cmpd="sng" algn="ctr">
                      <a:solidFill>
                        <a:srgbClr val="414141"/>
                      </a:solidFill>
                      <a:prstDash val="solid"/>
                      <a:round/>
                      <a:headEnd type="none" w="med" len="med"/>
                      <a:tailEnd type="none" w="med" len="med"/>
                    </a:lnB>
                    <a:solidFill>
                      <a:srgbClr val="050505"/>
                    </a:solidFill>
                  </a:tcPr>
                </a:tc>
              </a:tr>
              <a:tr h="632206">
                <a:tc>
                  <a:txBody>
                    <a:bodyPr/>
                    <a:lstStyle/>
                    <a:p>
                      <a:pPr indent="0" marL="0">
                        <a:buNone/>
                      </a:pPr>
                      <a:r>
                        <a:rPr lang="en-US" sz="1150" b="1" dirty="0">
                          <a:solidFill>
                            <a:srgbClr val="E5E0DF"/>
                          </a:solidFill>
                          <a:latin typeface="Roboto" pitchFamily="34" charset="0"/>
                          <a:ea typeface="Roboto" pitchFamily="34" charset="-122"/>
                          <a:cs typeface="Roboto" pitchFamily="34" charset="-120"/>
                        </a:rPr>
                        <a:t>Data model</a:t>
                      </a:r>
                      <a:endParaRPr lang="en-US" sz="1150" dirty="0">
                        <a:latin typeface="Roboto" charset="0"/>
                        <a:ea typeface="Roboto" charset="0"/>
                        <a:cs typeface="Roboto" charset="0"/>
                      </a:endParaRPr>
                    </a:p>
                  </a:txBody>
                  <a:tcPr marL="148852" marR="148852" marT="6350" marB="6350" anchor="ctr">
                    <a:lnL w="12700" cap="flat" cmpd="sng" algn="ctr">
                      <a:solidFill>
                        <a:srgbClr val="414141"/>
                      </a:solidFill>
                      <a:prstDash val="solid"/>
                      <a:round/>
                      <a:headEnd type="none" w="med" len="med"/>
                      <a:tailEnd type="none" w="med" len="med"/>
                    </a:lnL>
                    <a:lnR w="12700" cap="flat" cmpd="sng" algn="ctr">
                      <a:solidFill>
                        <a:srgbClr val="414141"/>
                      </a:solidFill>
                      <a:prstDash val="solid"/>
                      <a:round/>
                      <a:headEnd type="none" w="med" len="med"/>
                      <a:tailEnd type="none" w="med" len="med"/>
                    </a:lnR>
                    <a:lnT w="12700" cap="flat" cmpd="sng" algn="ctr">
                      <a:solidFill>
                        <a:srgbClr val="414141"/>
                      </a:solidFill>
                      <a:prstDash val="solid"/>
                      <a:round/>
                      <a:headEnd type="none" w="med" len="med"/>
                      <a:tailEnd type="none" w="med" len="med"/>
                    </a:lnT>
                    <a:lnB w="12700" cap="flat" cmpd="sng" algn="ctr">
                      <a:solidFill>
                        <a:srgbClr val="414141"/>
                      </a:solidFill>
                      <a:prstDash val="solid"/>
                      <a:round/>
                      <a:headEnd type="none" w="med" len="med"/>
                      <a:tailEnd type="none" w="med" len="med"/>
                    </a:lnB>
                    <a:solidFill>
                      <a:srgbClr val="050505"/>
                    </a:solidFill>
                  </a:tcPr>
                </a:tc>
                <a:tc>
                  <a:txBody>
                    <a:bodyPr/>
                    <a:lstStyle/>
                    <a:p>
                      <a:pPr indent="0" marL="0">
                        <a:buNone/>
                      </a:pPr>
                      <a:r>
                        <a:rPr lang="en-US" sz="1150" dirty="0">
                          <a:solidFill>
                            <a:srgbClr val="E5E0DF"/>
                          </a:solidFill>
                          <a:latin typeface="Roboto" pitchFamily="34" charset="0"/>
                          <a:ea typeface="Roboto" pitchFamily="34" charset="-122"/>
                          <a:cs typeface="Roboto" pitchFamily="34" charset="-120"/>
                        </a:rPr>
                        <a:t>Siloed per vendor, per department</a:t>
                      </a:r>
                      <a:endParaRPr lang="en-US" sz="1150" dirty="0">
                        <a:latin typeface="Roboto" charset="0"/>
                        <a:ea typeface="Roboto" charset="0"/>
                        <a:cs typeface="Roboto" charset="0"/>
                      </a:endParaRPr>
                    </a:p>
                  </a:txBody>
                  <a:tcPr marL="148852" marR="148852" marT="6350" marB="6350" anchor="ctr">
                    <a:lnL w="12700" cap="flat" cmpd="sng" algn="ctr">
                      <a:solidFill>
                        <a:srgbClr val="414141"/>
                      </a:solidFill>
                      <a:prstDash val="solid"/>
                      <a:round/>
                      <a:headEnd type="none" w="med" len="med"/>
                      <a:tailEnd type="none" w="med" len="med"/>
                    </a:lnL>
                    <a:lnR w="12700" cap="flat" cmpd="sng" algn="ctr">
                      <a:solidFill>
                        <a:srgbClr val="414141"/>
                      </a:solidFill>
                      <a:prstDash val="solid"/>
                      <a:round/>
                      <a:headEnd type="none" w="med" len="med"/>
                      <a:tailEnd type="none" w="med" len="med"/>
                    </a:lnR>
                    <a:lnT w="12700" cap="flat" cmpd="sng" algn="ctr">
                      <a:solidFill>
                        <a:srgbClr val="414141"/>
                      </a:solidFill>
                      <a:prstDash val="solid"/>
                      <a:round/>
                      <a:headEnd type="none" w="med" len="med"/>
                      <a:tailEnd type="none" w="med" len="med"/>
                    </a:lnT>
                    <a:lnB w="12700" cap="flat" cmpd="sng" algn="ctr">
                      <a:solidFill>
                        <a:srgbClr val="414141"/>
                      </a:solidFill>
                      <a:prstDash val="solid"/>
                      <a:round/>
                      <a:headEnd type="none" w="med" len="med"/>
                      <a:tailEnd type="none" w="med" len="med"/>
                    </a:lnB>
                    <a:solidFill>
                      <a:srgbClr val="050505"/>
                    </a:solidFill>
                  </a:tcPr>
                </a:tc>
                <a:tc>
                  <a:txBody>
                    <a:bodyPr/>
                    <a:lstStyle/>
                    <a:p>
                      <a:pPr indent="0" marL="0">
                        <a:buNone/>
                      </a:pPr>
                      <a:r>
                        <a:rPr lang="en-US" sz="1150" dirty="0">
                          <a:solidFill>
                            <a:srgbClr val="E5E0DF"/>
                          </a:solidFill>
                          <a:latin typeface="Roboto" pitchFamily="34" charset="0"/>
                          <a:ea typeface="Roboto" pitchFamily="34" charset="-122"/>
                          <a:cs typeface="Roboto" pitchFamily="34" charset="-120"/>
                        </a:rPr>
                        <a:t>1 shared schema across every department and vendor</a:t>
                      </a:r>
                      <a:endParaRPr lang="en-US" sz="1150" dirty="0">
                        <a:latin typeface="Roboto" charset="0"/>
                        <a:ea typeface="Roboto" charset="0"/>
                        <a:cs typeface="Roboto" charset="0"/>
                      </a:endParaRPr>
                    </a:p>
                  </a:txBody>
                  <a:tcPr marL="148852" marR="148852" marT="6350" marB="6350" anchor="ctr">
                    <a:lnL w="12700" cap="flat" cmpd="sng" algn="ctr">
                      <a:solidFill>
                        <a:srgbClr val="414141"/>
                      </a:solidFill>
                      <a:prstDash val="solid"/>
                      <a:round/>
                      <a:headEnd type="none" w="med" len="med"/>
                      <a:tailEnd type="none" w="med" len="med"/>
                    </a:lnL>
                    <a:lnR w="12700" cap="flat" cmpd="sng" algn="ctr">
                      <a:solidFill>
                        <a:srgbClr val="414141"/>
                      </a:solidFill>
                      <a:prstDash val="solid"/>
                      <a:round/>
                      <a:headEnd type="none" w="med" len="med"/>
                      <a:tailEnd type="none" w="med" len="med"/>
                    </a:lnR>
                    <a:lnT w="12700" cap="flat" cmpd="sng" algn="ctr">
                      <a:solidFill>
                        <a:srgbClr val="414141"/>
                      </a:solidFill>
                      <a:prstDash val="solid"/>
                      <a:round/>
                      <a:headEnd type="none" w="med" len="med"/>
                      <a:tailEnd type="none" w="med" len="med"/>
                    </a:lnT>
                    <a:lnB w="12700" cap="flat" cmpd="sng" algn="ctr">
                      <a:solidFill>
                        <a:srgbClr val="414141"/>
                      </a:solidFill>
                      <a:prstDash val="solid"/>
                      <a:round/>
                      <a:headEnd type="none" w="med" len="med"/>
                      <a:tailEnd type="none" w="med" len="med"/>
                    </a:lnB>
                    <a:solidFill>
                      <a:srgbClr val="050505"/>
                    </a:solidFill>
                  </a:tcPr>
                </a:tc>
              </a:tr>
              <a:tr h="632206">
                <a:tc>
                  <a:txBody>
                    <a:bodyPr/>
                    <a:lstStyle/>
                    <a:p>
                      <a:pPr indent="0" marL="0">
                        <a:buNone/>
                      </a:pPr>
                      <a:r>
                        <a:rPr lang="en-US" sz="1150" b="1" dirty="0">
                          <a:solidFill>
                            <a:srgbClr val="E5E0DF"/>
                          </a:solidFill>
                          <a:latin typeface="Roboto" pitchFamily="34" charset="0"/>
                          <a:ea typeface="Roboto" pitchFamily="34" charset="-122"/>
                          <a:cs typeface="Roboto" pitchFamily="34" charset="-120"/>
                        </a:rPr>
                        <a:t>Vendor lock-in</a:t>
                      </a:r>
                      <a:endParaRPr lang="en-US" sz="1150" dirty="0">
                        <a:latin typeface="Roboto" charset="0"/>
                        <a:ea typeface="Roboto" charset="0"/>
                        <a:cs typeface="Roboto" charset="0"/>
                      </a:endParaRPr>
                    </a:p>
                  </a:txBody>
                  <a:tcPr marL="148852" marR="148852" marT="6350" marB="6350" anchor="ctr">
                    <a:lnL w="12700" cap="flat" cmpd="sng" algn="ctr">
                      <a:solidFill>
                        <a:srgbClr val="414141"/>
                      </a:solidFill>
                      <a:prstDash val="solid"/>
                      <a:round/>
                      <a:headEnd type="none" w="med" len="med"/>
                      <a:tailEnd type="none" w="med" len="med"/>
                    </a:lnL>
                    <a:lnR w="12700" cap="flat" cmpd="sng" algn="ctr">
                      <a:solidFill>
                        <a:srgbClr val="414141"/>
                      </a:solidFill>
                      <a:prstDash val="solid"/>
                      <a:round/>
                      <a:headEnd type="none" w="med" len="med"/>
                      <a:tailEnd type="none" w="med" len="med"/>
                    </a:lnR>
                    <a:lnT w="12700" cap="flat" cmpd="sng" algn="ctr">
                      <a:solidFill>
                        <a:srgbClr val="414141"/>
                      </a:solidFill>
                      <a:prstDash val="solid"/>
                      <a:round/>
                      <a:headEnd type="none" w="med" len="med"/>
                      <a:tailEnd type="none" w="med" len="med"/>
                    </a:lnT>
                    <a:lnB w="12700" cap="flat" cmpd="sng" algn="ctr">
                      <a:solidFill>
                        <a:srgbClr val="414141"/>
                      </a:solidFill>
                      <a:prstDash val="solid"/>
                      <a:round/>
                      <a:headEnd type="none" w="med" len="med"/>
                      <a:tailEnd type="none" w="med" len="med"/>
                    </a:lnB>
                    <a:solidFill>
                      <a:srgbClr val="050505"/>
                    </a:solidFill>
                  </a:tcPr>
                </a:tc>
                <a:tc>
                  <a:txBody>
                    <a:bodyPr/>
                    <a:lstStyle/>
                    <a:p>
                      <a:pPr indent="0" marL="0">
                        <a:buNone/>
                      </a:pPr>
                      <a:r>
                        <a:rPr lang="en-US" sz="1150" dirty="0">
                          <a:solidFill>
                            <a:srgbClr val="E5E0DF"/>
                          </a:solidFill>
                          <a:latin typeface="Roboto" pitchFamily="34" charset="0"/>
                          <a:ea typeface="Roboto" pitchFamily="34" charset="-122"/>
                          <a:cs typeface="Roboto" pitchFamily="34" charset="-120"/>
                        </a:rPr>
                        <a:t>Locked to one vendor's ecosystem and roadmap</a:t>
                      </a:r>
                      <a:endParaRPr lang="en-US" sz="1150" dirty="0">
                        <a:latin typeface="Roboto" charset="0"/>
                        <a:ea typeface="Roboto" charset="0"/>
                        <a:cs typeface="Roboto" charset="0"/>
                      </a:endParaRPr>
                    </a:p>
                  </a:txBody>
                  <a:tcPr marL="148852" marR="148852" marT="6350" marB="6350" anchor="ctr">
                    <a:lnL w="12700" cap="flat" cmpd="sng" algn="ctr">
                      <a:solidFill>
                        <a:srgbClr val="414141"/>
                      </a:solidFill>
                      <a:prstDash val="solid"/>
                      <a:round/>
                      <a:headEnd type="none" w="med" len="med"/>
                      <a:tailEnd type="none" w="med" len="med"/>
                    </a:lnL>
                    <a:lnR w="12700" cap="flat" cmpd="sng" algn="ctr">
                      <a:solidFill>
                        <a:srgbClr val="414141"/>
                      </a:solidFill>
                      <a:prstDash val="solid"/>
                      <a:round/>
                      <a:headEnd type="none" w="med" len="med"/>
                      <a:tailEnd type="none" w="med" len="med"/>
                    </a:lnR>
                    <a:lnT w="12700" cap="flat" cmpd="sng" algn="ctr">
                      <a:solidFill>
                        <a:srgbClr val="414141"/>
                      </a:solidFill>
                      <a:prstDash val="solid"/>
                      <a:round/>
                      <a:headEnd type="none" w="med" len="med"/>
                      <a:tailEnd type="none" w="med" len="med"/>
                    </a:lnT>
                    <a:lnB w="12700" cap="flat" cmpd="sng" algn="ctr">
                      <a:solidFill>
                        <a:srgbClr val="414141"/>
                      </a:solidFill>
                      <a:prstDash val="solid"/>
                      <a:round/>
                      <a:headEnd type="none" w="med" len="med"/>
                      <a:tailEnd type="none" w="med" len="med"/>
                    </a:lnB>
                    <a:solidFill>
                      <a:srgbClr val="050505"/>
                    </a:solidFill>
                  </a:tcPr>
                </a:tc>
                <a:tc>
                  <a:txBody>
                    <a:bodyPr/>
                    <a:lstStyle/>
                    <a:p>
                      <a:pPr indent="0" marL="0">
                        <a:buNone/>
                      </a:pPr>
                      <a:r>
                        <a:rPr lang="en-US" sz="1150" dirty="0">
                          <a:solidFill>
                            <a:srgbClr val="E5E0DF"/>
                          </a:solidFill>
                          <a:latin typeface="Roboto" pitchFamily="34" charset="0"/>
                          <a:ea typeface="Roboto" pitchFamily="34" charset="-122"/>
                          <a:cs typeface="Roboto" pitchFamily="34" charset="-120"/>
                        </a:rPr>
                        <a:t>Vendor-agnostic adapter pattern. Swap or add vendors without touching core code</a:t>
                      </a:r>
                      <a:endParaRPr lang="en-US" sz="1150" dirty="0">
                        <a:latin typeface="Roboto" charset="0"/>
                        <a:ea typeface="Roboto" charset="0"/>
                        <a:cs typeface="Roboto" charset="0"/>
                      </a:endParaRPr>
                    </a:p>
                  </a:txBody>
                  <a:tcPr marL="148852" marR="148852" marT="6350" marB="6350" anchor="ctr">
                    <a:lnL w="12700" cap="flat" cmpd="sng" algn="ctr">
                      <a:solidFill>
                        <a:srgbClr val="414141"/>
                      </a:solidFill>
                      <a:prstDash val="solid"/>
                      <a:round/>
                      <a:headEnd type="none" w="med" len="med"/>
                      <a:tailEnd type="none" w="med" len="med"/>
                    </a:lnL>
                    <a:lnR w="12700" cap="flat" cmpd="sng" algn="ctr">
                      <a:solidFill>
                        <a:srgbClr val="414141"/>
                      </a:solidFill>
                      <a:prstDash val="solid"/>
                      <a:round/>
                      <a:headEnd type="none" w="med" len="med"/>
                      <a:tailEnd type="none" w="med" len="med"/>
                    </a:lnR>
                    <a:lnT w="12700" cap="flat" cmpd="sng" algn="ctr">
                      <a:solidFill>
                        <a:srgbClr val="414141"/>
                      </a:solidFill>
                      <a:prstDash val="solid"/>
                      <a:round/>
                      <a:headEnd type="none" w="med" len="med"/>
                      <a:tailEnd type="none" w="med" len="med"/>
                    </a:lnT>
                    <a:lnB w="12700" cap="flat" cmpd="sng" algn="ctr">
                      <a:solidFill>
                        <a:srgbClr val="414141"/>
                      </a:solidFill>
                      <a:prstDash val="solid"/>
                      <a:round/>
                      <a:headEnd type="none" w="med" len="med"/>
                      <a:tailEnd type="none" w="med" len="med"/>
                    </a:lnB>
                    <a:solidFill>
                      <a:srgbClr val="050505"/>
                    </a:solidFill>
                  </a:tcPr>
                </a:tc>
              </a:tr>
              <a:tr h="632206">
                <a:tc>
                  <a:txBody>
                    <a:bodyPr/>
                    <a:lstStyle/>
                    <a:p>
                      <a:pPr indent="0" marL="0">
                        <a:buNone/>
                      </a:pPr>
                      <a:r>
                        <a:rPr lang="en-US" sz="1150" b="1" dirty="0">
                          <a:solidFill>
                            <a:srgbClr val="E5E0DF"/>
                          </a:solidFill>
                          <a:latin typeface="Roboto" pitchFamily="34" charset="0"/>
                          <a:ea typeface="Roboto" pitchFamily="34" charset="-122"/>
                          <a:cs typeface="Roboto" pitchFamily="34" charset="-120"/>
                        </a:rPr>
                        <a:t>Cross-system correlation</a:t>
                      </a:r>
                      <a:endParaRPr lang="en-US" sz="1150" dirty="0">
                        <a:latin typeface="Roboto" charset="0"/>
                        <a:ea typeface="Roboto" charset="0"/>
                        <a:cs typeface="Roboto" charset="0"/>
                      </a:endParaRPr>
                    </a:p>
                  </a:txBody>
                  <a:tcPr marL="148852" marR="148852" marT="6350" marB="6350" anchor="ctr">
                    <a:lnL w="12700" cap="flat" cmpd="sng" algn="ctr">
                      <a:solidFill>
                        <a:srgbClr val="414141"/>
                      </a:solidFill>
                      <a:prstDash val="solid"/>
                      <a:round/>
                      <a:headEnd type="none" w="med" len="med"/>
                      <a:tailEnd type="none" w="med" len="med"/>
                    </a:lnL>
                    <a:lnR w="12700" cap="flat" cmpd="sng" algn="ctr">
                      <a:solidFill>
                        <a:srgbClr val="414141"/>
                      </a:solidFill>
                      <a:prstDash val="solid"/>
                      <a:round/>
                      <a:headEnd type="none" w="med" len="med"/>
                      <a:tailEnd type="none" w="med" len="med"/>
                    </a:lnR>
                    <a:lnT w="12700" cap="flat" cmpd="sng" algn="ctr">
                      <a:solidFill>
                        <a:srgbClr val="414141"/>
                      </a:solidFill>
                      <a:prstDash val="solid"/>
                      <a:round/>
                      <a:headEnd type="none" w="med" len="med"/>
                      <a:tailEnd type="none" w="med" len="med"/>
                    </a:lnT>
                    <a:lnB w="12700" cap="flat" cmpd="sng" algn="ctr">
                      <a:solidFill>
                        <a:srgbClr val="414141"/>
                      </a:solidFill>
                      <a:prstDash val="solid"/>
                      <a:round/>
                      <a:headEnd type="none" w="med" len="med"/>
                      <a:tailEnd type="none" w="med" len="med"/>
                    </a:lnB>
                    <a:solidFill>
                      <a:srgbClr val="050505"/>
                    </a:solidFill>
                  </a:tcPr>
                </a:tc>
                <a:tc>
                  <a:txBody>
                    <a:bodyPr/>
                    <a:lstStyle/>
                    <a:p>
                      <a:pPr indent="0" marL="0">
                        <a:buNone/>
                      </a:pPr>
                      <a:r>
                        <a:rPr lang="en-US" sz="1150" dirty="0">
                          <a:solidFill>
                            <a:srgbClr val="E5E0DF"/>
                          </a:solidFill>
                          <a:latin typeface="Roboto" pitchFamily="34" charset="0"/>
                          <a:ea typeface="Roboto" pitchFamily="34" charset="-122"/>
                          <a:cs typeface="Roboto" pitchFamily="34" charset="-120"/>
                        </a:rPr>
                        <a:t>Not possible. No shared identity model</a:t>
                      </a:r>
                      <a:endParaRPr lang="en-US" sz="1150" dirty="0">
                        <a:latin typeface="Roboto" charset="0"/>
                        <a:ea typeface="Roboto" charset="0"/>
                        <a:cs typeface="Roboto" charset="0"/>
                      </a:endParaRPr>
                    </a:p>
                  </a:txBody>
                  <a:tcPr marL="148852" marR="148852" marT="6350" marB="6350" anchor="ctr">
                    <a:lnL w="12700" cap="flat" cmpd="sng" algn="ctr">
                      <a:solidFill>
                        <a:srgbClr val="414141"/>
                      </a:solidFill>
                      <a:prstDash val="solid"/>
                      <a:round/>
                      <a:headEnd type="none" w="med" len="med"/>
                      <a:tailEnd type="none" w="med" len="med"/>
                    </a:lnL>
                    <a:lnR w="12700" cap="flat" cmpd="sng" algn="ctr">
                      <a:solidFill>
                        <a:srgbClr val="414141"/>
                      </a:solidFill>
                      <a:prstDash val="solid"/>
                      <a:round/>
                      <a:headEnd type="none" w="med" len="med"/>
                      <a:tailEnd type="none" w="med" len="med"/>
                    </a:lnR>
                    <a:lnT w="12700" cap="flat" cmpd="sng" algn="ctr">
                      <a:solidFill>
                        <a:srgbClr val="414141"/>
                      </a:solidFill>
                      <a:prstDash val="solid"/>
                      <a:round/>
                      <a:headEnd type="none" w="med" len="med"/>
                      <a:tailEnd type="none" w="med" len="med"/>
                    </a:lnT>
                    <a:lnB w="12700" cap="flat" cmpd="sng" algn="ctr">
                      <a:solidFill>
                        <a:srgbClr val="414141"/>
                      </a:solidFill>
                      <a:prstDash val="solid"/>
                      <a:round/>
                      <a:headEnd type="none" w="med" len="med"/>
                      <a:tailEnd type="none" w="med" len="med"/>
                    </a:lnB>
                    <a:solidFill>
                      <a:srgbClr val="050505"/>
                    </a:solidFill>
                  </a:tcPr>
                </a:tc>
                <a:tc>
                  <a:txBody>
                    <a:bodyPr/>
                    <a:lstStyle/>
                    <a:p>
                      <a:pPr indent="0" marL="0">
                        <a:buNone/>
                      </a:pPr>
                      <a:r>
                        <a:rPr lang="en-US" sz="1150" dirty="0">
                          <a:solidFill>
                            <a:srgbClr val="E5E0DF"/>
                          </a:solidFill>
                          <a:latin typeface="Roboto" pitchFamily="34" charset="0"/>
                          <a:ea typeface="Roboto" pitchFamily="34" charset="-122"/>
                          <a:cs typeface="Roboto" pitchFamily="34" charset="-120"/>
                        </a:rPr>
                        <a:t>Native cross-camera, cross-VMS route reconstruction via plate + timestamp joins</a:t>
                      </a:r>
                      <a:endParaRPr lang="en-US" sz="1150" dirty="0">
                        <a:latin typeface="Roboto" charset="0"/>
                        <a:ea typeface="Roboto" charset="0"/>
                        <a:cs typeface="Roboto" charset="0"/>
                      </a:endParaRPr>
                    </a:p>
                  </a:txBody>
                  <a:tcPr marL="148852" marR="148852" marT="6350" marB="6350" anchor="ctr">
                    <a:lnL w="12700" cap="flat" cmpd="sng" algn="ctr">
                      <a:solidFill>
                        <a:srgbClr val="414141"/>
                      </a:solidFill>
                      <a:prstDash val="solid"/>
                      <a:round/>
                      <a:headEnd type="none" w="med" len="med"/>
                      <a:tailEnd type="none" w="med" len="med"/>
                    </a:lnL>
                    <a:lnR w="12700" cap="flat" cmpd="sng" algn="ctr">
                      <a:solidFill>
                        <a:srgbClr val="414141"/>
                      </a:solidFill>
                      <a:prstDash val="solid"/>
                      <a:round/>
                      <a:headEnd type="none" w="med" len="med"/>
                      <a:tailEnd type="none" w="med" len="med"/>
                    </a:lnR>
                    <a:lnT w="12700" cap="flat" cmpd="sng" algn="ctr">
                      <a:solidFill>
                        <a:srgbClr val="414141"/>
                      </a:solidFill>
                      <a:prstDash val="solid"/>
                      <a:round/>
                      <a:headEnd type="none" w="med" len="med"/>
                      <a:tailEnd type="none" w="med" len="med"/>
                    </a:lnT>
                    <a:lnB w="12700" cap="flat" cmpd="sng" algn="ctr">
                      <a:solidFill>
                        <a:srgbClr val="414141"/>
                      </a:solidFill>
                      <a:prstDash val="solid"/>
                      <a:round/>
                      <a:headEnd type="none" w="med" len="med"/>
                      <a:tailEnd type="none" w="med" len="med"/>
                    </a:lnB>
                    <a:solidFill>
                      <a:srgbClr val="050505"/>
                    </a:solidFill>
                  </a:tcPr>
                </a:tc>
              </a:tr>
              <a:tr h="632206">
                <a:tc>
                  <a:txBody>
                    <a:bodyPr/>
                    <a:lstStyle/>
                    <a:p>
                      <a:pPr indent="0" marL="0">
                        <a:buNone/>
                      </a:pPr>
                      <a:r>
                        <a:rPr lang="en-US" sz="1150" b="1" dirty="0">
                          <a:solidFill>
                            <a:srgbClr val="E5E0DF"/>
                          </a:solidFill>
                          <a:latin typeface="Roboto" pitchFamily="34" charset="0"/>
                          <a:ea typeface="Roboto" pitchFamily="34" charset="-122"/>
                          <a:cs typeface="Roboto" pitchFamily="34" charset="-120"/>
                        </a:rPr>
                        <a:t>Coverage analysis</a:t>
                      </a:r>
                      <a:endParaRPr lang="en-US" sz="1150" dirty="0">
                        <a:latin typeface="Roboto" charset="0"/>
                        <a:ea typeface="Roboto" charset="0"/>
                        <a:cs typeface="Roboto" charset="0"/>
                      </a:endParaRPr>
                    </a:p>
                  </a:txBody>
                  <a:tcPr marL="148852" marR="148852" marT="6350" marB="6350" anchor="ctr">
                    <a:lnL w="12700" cap="flat" cmpd="sng" algn="ctr">
                      <a:solidFill>
                        <a:srgbClr val="414141"/>
                      </a:solidFill>
                      <a:prstDash val="solid"/>
                      <a:round/>
                      <a:headEnd type="none" w="med" len="med"/>
                      <a:tailEnd type="none" w="med" len="med"/>
                    </a:lnL>
                    <a:lnR w="12700" cap="flat" cmpd="sng" algn="ctr">
                      <a:solidFill>
                        <a:srgbClr val="414141"/>
                      </a:solidFill>
                      <a:prstDash val="solid"/>
                      <a:round/>
                      <a:headEnd type="none" w="med" len="med"/>
                      <a:tailEnd type="none" w="med" len="med"/>
                    </a:lnR>
                    <a:lnT w="12700" cap="flat" cmpd="sng" algn="ctr">
                      <a:solidFill>
                        <a:srgbClr val="414141"/>
                      </a:solidFill>
                      <a:prstDash val="solid"/>
                      <a:round/>
                      <a:headEnd type="none" w="med" len="med"/>
                      <a:tailEnd type="none" w="med" len="med"/>
                    </a:lnT>
                    <a:lnB w="12700" cap="flat" cmpd="sng" algn="ctr">
                      <a:solidFill>
                        <a:srgbClr val="414141"/>
                      </a:solidFill>
                      <a:prstDash val="solid"/>
                      <a:round/>
                      <a:headEnd type="none" w="med" len="med"/>
                      <a:tailEnd type="none" w="med" len="med"/>
                    </a:lnB>
                    <a:solidFill>
                      <a:srgbClr val="050505"/>
                    </a:solidFill>
                  </a:tcPr>
                </a:tc>
                <a:tc>
                  <a:txBody>
                    <a:bodyPr/>
                    <a:lstStyle/>
                    <a:p>
                      <a:pPr indent="0" marL="0">
                        <a:buNone/>
                      </a:pPr>
                      <a:r>
                        <a:rPr lang="en-US" sz="1150" dirty="0">
                          <a:solidFill>
                            <a:srgbClr val="E5E0DF"/>
                          </a:solidFill>
                          <a:latin typeface="Roboto" pitchFamily="34" charset="0"/>
                          <a:ea typeface="Roboto" pitchFamily="34" charset="-122"/>
                          <a:cs typeface="Roboto" pitchFamily="34" charset="-120"/>
                        </a:rPr>
                        <a:t>Manual, spreadsheet-driven, or absent</a:t>
                      </a:r>
                      <a:endParaRPr lang="en-US" sz="1150" dirty="0">
                        <a:latin typeface="Roboto" charset="0"/>
                        <a:ea typeface="Roboto" charset="0"/>
                        <a:cs typeface="Roboto" charset="0"/>
                      </a:endParaRPr>
                    </a:p>
                  </a:txBody>
                  <a:tcPr marL="148852" marR="148852" marT="6350" marB="6350" anchor="ctr">
                    <a:lnL w="12700" cap="flat" cmpd="sng" algn="ctr">
                      <a:solidFill>
                        <a:srgbClr val="414141"/>
                      </a:solidFill>
                      <a:prstDash val="solid"/>
                      <a:round/>
                      <a:headEnd type="none" w="med" len="med"/>
                      <a:tailEnd type="none" w="med" len="med"/>
                    </a:lnL>
                    <a:lnR w="12700" cap="flat" cmpd="sng" algn="ctr">
                      <a:solidFill>
                        <a:srgbClr val="414141"/>
                      </a:solidFill>
                      <a:prstDash val="solid"/>
                      <a:round/>
                      <a:headEnd type="none" w="med" len="med"/>
                      <a:tailEnd type="none" w="med" len="med"/>
                    </a:lnR>
                    <a:lnT w="12700" cap="flat" cmpd="sng" algn="ctr">
                      <a:solidFill>
                        <a:srgbClr val="414141"/>
                      </a:solidFill>
                      <a:prstDash val="solid"/>
                      <a:round/>
                      <a:headEnd type="none" w="med" len="med"/>
                      <a:tailEnd type="none" w="med" len="med"/>
                    </a:lnT>
                    <a:lnB w="12700" cap="flat" cmpd="sng" algn="ctr">
                      <a:solidFill>
                        <a:srgbClr val="414141"/>
                      </a:solidFill>
                      <a:prstDash val="solid"/>
                      <a:round/>
                      <a:headEnd type="none" w="med" len="med"/>
                      <a:tailEnd type="none" w="med" len="med"/>
                    </a:lnB>
                    <a:solidFill>
                      <a:srgbClr val="050505"/>
                    </a:solidFill>
                  </a:tcPr>
                </a:tc>
                <a:tc>
                  <a:txBody>
                    <a:bodyPr/>
                    <a:lstStyle/>
                    <a:p>
                      <a:pPr indent="0" marL="0">
                        <a:buNone/>
                      </a:pPr>
                      <a:r>
                        <a:rPr lang="en-US" sz="1150" dirty="0">
                          <a:solidFill>
                            <a:srgbClr val="E5E0DF"/>
                          </a:solidFill>
                          <a:latin typeface="Roboto" pitchFamily="34" charset="0"/>
                          <a:ea typeface="Roboto" pitchFamily="34" charset="-122"/>
                          <a:cs typeface="Roboto" pitchFamily="34" charset="-120"/>
                        </a:rPr>
                        <a:t>Automated PostGIS 1km-buffer geodesic gap analysis</a:t>
                      </a:r>
                      <a:endParaRPr lang="en-US" sz="1150" dirty="0">
                        <a:latin typeface="Roboto" charset="0"/>
                        <a:ea typeface="Roboto" charset="0"/>
                        <a:cs typeface="Roboto" charset="0"/>
                      </a:endParaRPr>
                    </a:p>
                  </a:txBody>
                  <a:tcPr marL="148852" marR="148852" marT="6350" marB="6350" anchor="ctr">
                    <a:lnL w="12700" cap="flat" cmpd="sng" algn="ctr">
                      <a:solidFill>
                        <a:srgbClr val="414141"/>
                      </a:solidFill>
                      <a:prstDash val="solid"/>
                      <a:round/>
                      <a:headEnd type="none" w="med" len="med"/>
                      <a:tailEnd type="none" w="med" len="med"/>
                    </a:lnL>
                    <a:lnR w="12700" cap="flat" cmpd="sng" algn="ctr">
                      <a:solidFill>
                        <a:srgbClr val="414141"/>
                      </a:solidFill>
                      <a:prstDash val="solid"/>
                      <a:round/>
                      <a:headEnd type="none" w="med" len="med"/>
                      <a:tailEnd type="none" w="med" len="med"/>
                    </a:lnR>
                    <a:lnT w="12700" cap="flat" cmpd="sng" algn="ctr">
                      <a:solidFill>
                        <a:srgbClr val="414141"/>
                      </a:solidFill>
                      <a:prstDash val="solid"/>
                      <a:round/>
                      <a:headEnd type="none" w="med" len="med"/>
                      <a:tailEnd type="none" w="med" len="med"/>
                    </a:lnT>
                    <a:lnB w="12700" cap="flat" cmpd="sng" algn="ctr">
                      <a:solidFill>
                        <a:srgbClr val="414141"/>
                      </a:solidFill>
                      <a:prstDash val="solid"/>
                      <a:round/>
                      <a:headEnd type="none" w="med" len="med"/>
                      <a:tailEnd type="none" w="med" len="med"/>
                    </a:lnB>
                    <a:solidFill>
                      <a:srgbClr val="050505"/>
                    </a:solidFill>
                  </a:tcPr>
                </a:tc>
              </a:tr>
              <a:tr h="632206">
                <a:tc>
                  <a:txBody>
                    <a:bodyPr/>
                    <a:lstStyle/>
                    <a:p>
                      <a:pPr indent="0" marL="0">
                        <a:buNone/>
                      </a:pPr>
                      <a:r>
                        <a:rPr lang="en-US" sz="1150" b="1" dirty="0">
                          <a:solidFill>
                            <a:srgbClr val="E5E0DF"/>
                          </a:solidFill>
                          <a:latin typeface="Roboto" pitchFamily="34" charset="0"/>
                          <a:ea typeface="Roboto" pitchFamily="34" charset="-122"/>
                          <a:cs typeface="Roboto" pitchFamily="34" charset="-120"/>
                        </a:rPr>
                        <a:t>Time to onboard a new vendor system</a:t>
                      </a:r>
                      <a:endParaRPr lang="en-US" sz="1150" dirty="0">
                        <a:latin typeface="Roboto" charset="0"/>
                        <a:ea typeface="Roboto" charset="0"/>
                        <a:cs typeface="Roboto" charset="0"/>
                      </a:endParaRPr>
                    </a:p>
                  </a:txBody>
                  <a:tcPr marL="148852" marR="148852" marT="6350" marB="6350" anchor="ctr">
                    <a:lnL w="12700" cap="flat" cmpd="sng" algn="ctr">
                      <a:solidFill>
                        <a:srgbClr val="414141"/>
                      </a:solidFill>
                      <a:prstDash val="solid"/>
                      <a:round/>
                      <a:headEnd type="none" w="med" len="med"/>
                      <a:tailEnd type="none" w="med" len="med"/>
                    </a:lnL>
                    <a:lnR w="12700" cap="flat" cmpd="sng" algn="ctr">
                      <a:solidFill>
                        <a:srgbClr val="414141"/>
                      </a:solidFill>
                      <a:prstDash val="solid"/>
                      <a:round/>
                      <a:headEnd type="none" w="med" len="med"/>
                      <a:tailEnd type="none" w="med" len="med"/>
                    </a:lnR>
                    <a:lnT w="12700" cap="flat" cmpd="sng" algn="ctr">
                      <a:solidFill>
                        <a:srgbClr val="414141"/>
                      </a:solidFill>
                      <a:prstDash val="solid"/>
                      <a:round/>
                      <a:headEnd type="none" w="med" len="med"/>
                      <a:tailEnd type="none" w="med" len="med"/>
                    </a:lnT>
                    <a:lnB w="12700" cap="flat" cmpd="sng" algn="ctr">
                      <a:solidFill>
                        <a:srgbClr val="414141"/>
                      </a:solidFill>
                      <a:prstDash val="solid"/>
                      <a:round/>
                      <a:headEnd type="none" w="med" len="med"/>
                      <a:tailEnd type="none" w="med" len="med"/>
                    </a:lnB>
                    <a:solidFill>
                      <a:srgbClr val="050505"/>
                    </a:solidFill>
                  </a:tcPr>
                </a:tc>
                <a:tc>
                  <a:txBody>
                    <a:bodyPr/>
                    <a:lstStyle/>
                    <a:p>
                      <a:pPr indent="0" marL="0">
                        <a:buNone/>
                      </a:pPr>
                      <a:r>
                        <a:rPr lang="en-US" sz="1150" dirty="0">
                          <a:solidFill>
                            <a:srgbClr val="E5E0DF"/>
                          </a:solidFill>
                          <a:latin typeface="Roboto" pitchFamily="34" charset="0"/>
                          <a:ea typeface="Roboto" pitchFamily="34" charset="-122"/>
                          <a:cs typeface="Roboto" pitchFamily="34" charset="-120"/>
                        </a:rPr>
                        <a:t>Weeks of custom integration engineering</a:t>
                      </a:r>
                      <a:endParaRPr lang="en-US" sz="1150" dirty="0">
                        <a:latin typeface="Roboto" charset="0"/>
                        <a:ea typeface="Roboto" charset="0"/>
                        <a:cs typeface="Roboto" charset="0"/>
                      </a:endParaRPr>
                    </a:p>
                  </a:txBody>
                  <a:tcPr marL="148852" marR="148852" marT="6350" marB="6350" anchor="ctr">
                    <a:lnL w="12700" cap="flat" cmpd="sng" algn="ctr">
                      <a:solidFill>
                        <a:srgbClr val="414141"/>
                      </a:solidFill>
                      <a:prstDash val="solid"/>
                      <a:round/>
                      <a:headEnd type="none" w="med" len="med"/>
                      <a:tailEnd type="none" w="med" len="med"/>
                    </a:lnL>
                    <a:lnR w="12700" cap="flat" cmpd="sng" algn="ctr">
                      <a:solidFill>
                        <a:srgbClr val="414141"/>
                      </a:solidFill>
                      <a:prstDash val="solid"/>
                      <a:round/>
                      <a:headEnd type="none" w="med" len="med"/>
                      <a:tailEnd type="none" w="med" len="med"/>
                    </a:lnR>
                    <a:lnT w="12700" cap="flat" cmpd="sng" algn="ctr">
                      <a:solidFill>
                        <a:srgbClr val="414141"/>
                      </a:solidFill>
                      <a:prstDash val="solid"/>
                      <a:round/>
                      <a:headEnd type="none" w="med" len="med"/>
                      <a:tailEnd type="none" w="med" len="med"/>
                    </a:lnT>
                    <a:lnB w="12700" cap="flat" cmpd="sng" algn="ctr">
                      <a:solidFill>
                        <a:srgbClr val="414141"/>
                      </a:solidFill>
                      <a:prstDash val="solid"/>
                      <a:round/>
                      <a:headEnd type="none" w="med" len="med"/>
                      <a:tailEnd type="none" w="med" len="med"/>
                    </a:lnB>
                    <a:solidFill>
                      <a:srgbClr val="050505"/>
                    </a:solidFill>
                  </a:tcPr>
                </a:tc>
                <a:tc>
                  <a:txBody>
                    <a:bodyPr/>
                    <a:lstStyle/>
                    <a:p>
                      <a:pPr indent="0" marL="0">
                        <a:buNone/>
                      </a:pPr>
                      <a:r>
                        <a:rPr lang="en-US" sz="1150" dirty="0">
                          <a:solidFill>
                            <a:srgbClr val="E5E0DF"/>
                          </a:solidFill>
                          <a:latin typeface="Roboto" pitchFamily="34" charset="0"/>
                          <a:ea typeface="Roboto" pitchFamily="34" charset="-122"/>
                          <a:cs typeface="Roboto" pitchFamily="34" charset="-120"/>
                        </a:rPr>
                        <a:t>Zero new code for already-supported protocols (ONVIF/REST). Configuration only</a:t>
                      </a:r>
                      <a:endParaRPr lang="en-US" sz="1150" dirty="0">
                        <a:latin typeface="Roboto" charset="0"/>
                        <a:ea typeface="Roboto" charset="0"/>
                        <a:cs typeface="Roboto" charset="0"/>
                      </a:endParaRPr>
                    </a:p>
                  </a:txBody>
                  <a:tcPr marL="148852" marR="148852" marT="6350" marB="6350" anchor="ctr">
                    <a:lnL w="12700" cap="flat" cmpd="sng" algn="ctr">
                      <a:solidFill>
                        <a:srgbClr val="414141"/>
                      </a:solidFill>
                      <a:prstDash val="solid"/>
                      <a:round/>
                      <a:headEnd type="none" w="med" len="med"/>
                      <a:tailEnd type="none" w="med" len="med"/>
                    </a:lnL>
                    <a:lnR w="12700" cap="flat" cmpd="sng" algn="ctr">
                      <a:solidFill>
                        <a:srgbClr val="414141"/>
                      </a:solidFill>
                      <a:prstDash val="solid"/>
                      <a:round/>
                      <a:headEnd type="none" w="med" len="med"/>
                      <a:tailEnd type="none" w="med" len="med"/>
                    </a:lnR>
                    <a:lnT w="12700" cap="flat" cmpd="sng" algn="ctr">
                      <a:solidFill>
                        <a:srgbClr val="414141"/>
                      </a:solidFill>
                      <a:prstDash val="solid"/>
                      <a:round/>
                      <a:headEnd type="none" w="med" len="med"/>
                      <a:tailEnd type="none" w="med" len="med"/>
                    </a:lnT>
                    <a:lnB w="12700" cap="flat" cmpd="sng" algn="ctr">
                      <a:solidFill>
                        <a:srgbClr val="414141"/>
                      </a:solidFill>
                      <a:prstDash val="solid"/>
                      <a:round/>
                      <a:headEnd type="none" w="med" len="med"/>
                      <a:tailEnd type="none" w="med" len="med"/>
                    </a:lnB>
                    <a:solidFill>
                      <a:srgbClr val="050505"/>
                    </a:solidFill>
                  </a:tcPr>
                </a:tc>
              </a:tr>
              <a:tr h="629031">
                <a:tc>
                  <a:txBody>
                    <a:bodyPr/>
                    <a:lstStyle/>
                    <a:p>
                      <a:pPr indent="0" marL="0">
                        <a:buNone/>
                      </a:pPr>
                      <a:r>
                        <a:rPr lang="en-US" sz="1150" b="1" dirty="0">
                          <a:solidFill>
                            <a:srgbClr val="E5E0DF"/>
                          </a:solidFill>
                          <a:latin typeface="Roboto" pitchFamily="34" charset="0"/>
                          <a:ea typeface="Roboto" pitchFamily="34" charset="-122"/>
                          <a:cs typeface="Roboto" pitchFamily="34" charset="-120"/>
                        </a:rPr>
                        <a:t>Biometric watchlist matching</a:t>
                      </a:r>
                      <a:endParaRPr lang="en-US" sz="1150" dirty="0">
                        <a:latin typeface="Roboto" charset="0"/>
                        <a:ea typeface="Roboto" charset="0"/>
                        <a:cs typeface="Roboto" charset="0"/>
                      </a:endParaRPr>
                    </a:p>
                  </a:txBody>
                  <a:tcPr marL="148852" marR="148852" marT="6350" marB="6350" anchor="ctr">
                    <a:lnL w="12700" cap="flat" cmpd="sng" algn="ctr">
                      <a:solidFill>
                        <a:srgbClr val="414141"/>
                      </a:solidFill>
                      <a:prstDash val="solid"/>
                      <a:round/>
                      <a:headEnd type="none" w="med" len="med"/>
                      <a:tailEnd type="none" w="med" len="med"/>
                    </a:lnL>
                    <a:lnR w="12700" cap="flat" cmpd="sng" algn="ctr">
                      <a:solidFill>
                        <a:srgbClr val="414141"/>
                      </a:solidFill>
                      <a:prstDash val="solid"/>
                      <a:round/>
                      <a:headEnd type="none" w="med" len="med"/>
                      <a:tailEnd type="none" w="med" len="med"/>
                    </a:lnR>
                    <a:lnT w="12700" cap="flat" cmpd="sng" algn="ctr">
                      <a:solidFill>
                        <a:srgbClr val="414141"/>
                      </a:solidFill>
                      <a:prstDash val="solid"/>
                      <a:round/>
                      <a:headEnd type="none" w="med" len="med"/>
                      <a:tailEnd type="none" w="med" len="med"/>
                    </a:lnT>
                    <a:lnB w="12700" cap="flat" cmpd="sng" algn="ctr">
                      <a:solidFill>
                        <a:srgbClr val="414141"/>
                      </a:solidFill>
                      <a:prstDash val="solid"/>
                      <a:round/>
                      <a:headEnd type="none" w="med" len="med"/>
                      <a:tailEnd type="none" w="med" len="med"/>
                    </a:lnB>
                    <a:solidFill>
                      <a:srgbClr val="050505"/>
                    </a:solidFill>
                  </a:tcPr>
                </a:tc>
                <a:tc>
                  <a:txBody>
                    <a:bodyPr/>
                    <a:lstStyle/>
                    <a:p>
                      <a:pPr indent="0" marL="0">
                        <a:buNone/>
                      </a:pPr>
                      <a:r>
                        <a:rPr lang="en-US" sz="1150" dirty="0">
                          <a:solidFill>
                            <a:srgbClr val="E5E0DF"/>
                          </a:solidFill>
                          <a:latin typeface="Roboto" pitchFamily="34" charset="0"/>
                          <a:ea typeface="Roboto" pitchFamily="34" charset="-122"/>
                          <a:cs typeface="Roboto" pitchFamily="34" charset="-120"/>
                        </a:rPr>
                        <a:t>Rare, batch-based, or manual</a:t>
                      </a:r>
                      <a:endParaRPr lang="en-US" sz="1150" dirty="0">
                        <a:latin typeface="Roboto" charset="0"/>
                        <a:ea typeface="Roboto" charset="0"/>
                        <a:cs typeface="Roboto" charset="0"/>
                      </a:endParaRPr>
                    </a:p>
                  </a:txBody>
                  <a:tcPr marL="148852" marR="148852" marT="6350" marB="6350" anchor="ctr">
                    <a:lnL w="12700" cap="flat" cmpd="sng" algn="ctr">
                      <a:solidFill>
                        <a:srgbClr val="414141"/>
                      </a:solidFill>
                      <a:prstDash val="solid"/>
                      <a:round/>
                      <a:headEnd type="none" w="med" len="med"/>
                      <a:tailEnd type="none" w="med" len="med"/>
                    </a:lnL>
                    <a:lnR w="12700" cap="flat" cmpd="sng" algn="ctr">
                      <a:solidFill>
                        <a:srgbClr val="414141"/>
                      </a:solidFill>
                      <a:prstDash val="solid"/>
                      <a:round/>
                      <a:headEnd type="none" w="med" len="med"/>
                      <a:tailEnd type="none" w="med" len="med"/>
                    </a:lnR>
                    <a:lnT w="12700" cap="flat" cmpd="sng" algn="ctr">
                      <a:solidFill>
                        <a:srgbClr val="414141"/>
                      </a:solidFill>
                      <a:prstDash val="solid"/>
                      <a:round/>
                      <a:headEnd type="none" w="med" len="med"/>
                      <a:tailEnd type="none" w="med" len="med"/>
                    </a:lnT>
                    <a:lnB w="12700" cap="flat" cmpd="sng" algn="ctr">
                      <a:solidFill>
                        <a:srgbClr val="414141"/>
                      </a:solidFill>
                      <a:prstDash val="solid"/>
                      <a:round/>
                      <a:headEnd type="none" w="med" len="med"/>
                      <a:tailEnd type="none" w="med" len="med"/>
                    </a:lnB>
                    <a:solidFill>
                      <a:srgbClr val="050505"/>
                    </a:solidFill>
                  </a:tcPr>
                </a:tc>
                <a:tc>
                  <a:txBody>
                    <a:bodyPr/>
                    <a:lstStyle/>
                    <a:p>
                      <a:pPr indent="0" marL="0">
                        <a:buNone/>
                      </a:pPr>
                      <a:r>
                        <a:rPr lang="en-US" sz="1150" dirty="0">
                          <a:solidFill>
                            <a:srgbClr val="E5E0DF"/>
                          </a:solidFill>
                          <a:latin typeface="Roboto" pitchFamily="34" charset="0"/>
                          <a:ea typeface="Roboto" pitchFamily="34" charset="-122"/>
                          <a:cs typeface="Roboto" pitchFamily="34" charset="-120"/>
                        </a:rPr>
                        <a:t>Real-time 512-d cosine-similarity face matching over a pgvector HNSW index</a:t>
                      </a:r>
                      <a:endParaRPr lang="en-US" sz="1150" dirty="0">
                        <a:latin typeface="Roboto" charset="0"/>
                        <a:ea typeface="Roboto" charset="0"/>
                        <a:cs typeface="Roboto" charset="0"/>
                      </a:endParaRPr>
                    </a:p>
                  </a:txBody>
                  <a:tcPr marL="148852" marR="148852" marT="6350" marB="6350" anchor="ctr">
                    <a:lnL w="12700" cap="flat" cmpd="sng" algn="ctr">
                      <a:solidFill>
                        <a:srgbClr val="414141"/>
                      </a:solidFill>
                      <a:prstDash val="solid"/>
                      <a:round/>
                      <a:headEnd type="none" w="med" len="med"/>
                      <a:tailEnd type="none" w="med" len="med"/>
                    </a:lnL>
                    <a:lnR w="12700" cap="flat" cmpd="sng" algn="ctr">
                      <a:solidFill>
                        <a:srgbClr val="414141"/>
                      </a:solidFill>
                      <a:prstDash val="solid"/>
                      <a:round/>
                      <a:headEnd type="none" w="med" len="med"/>
                      <a:tailEnd type="none" w="med" len="med"/>
                    </a:lnR>
                    <a:lnT w="12700" cap="flat" cmpd="sng" algn="ctr">
                      <a:solidFill>
                        <a:srgbClr val="414141"/>
                      </a:solidFill>
                      <a:prstDash val="solid"/>
                      <a:round/>
                      <a:headEnd type="none" w="med" len="med"/>
                      <a:tailEnd type="none" w="med" len="med"/>
                    </a:lnT>
                    <a:lnB w="12700" cap="flat" cmpd="sng" algn="ctr">
                      <a:solidFill>
                        <a:srgbClr val="414141"/>
                      </a:solidFill>
                      <a:prstDash val="solid"/>
                      <a:round/>
                      <a:headEnd type="none" w="med" len="med"/>
                      <a:tailEnd type="none" w="med" len="med"/>
                    </a:lnB>
                    <a:solidFill>
                      <a:srgbClr val="050505"/>
                    </a:solidFill>
                  </a:tcPr>
                </a:tc>
              </a:tr>
            </a:tbl>
          </a:graphicData>
        </a:graphic>
      </p:graphicFrame>
      <p:sp>
        <p:nvSpPr>
          <p:cNvPr id="6" name="Shape 3"/>
          <p:cNvSpPr/>
          <p:nvPr/>
        </p:nvSpPr>
        <p:spPr>
          <a:xfrm>
            <a:off x="661475" y="5802511"/>
            <a:ext cx="10868745" cy="555129"/>
          </a:xfrm>
          <a:prstGeom prst="roundRect">
            <a:avLst>
              <a:gd name="adj" fmla="val 11262"/>
            </a:avLst>
          </a:prstGeom>
          <a:solidFill>
            <a:srgbClr val="3D3D42"/>
          </a:solidFill>
          <a:ln/>
        </p:spPr>
      </p:sp>
      <p:pic>
        <p:nvPicPr>
          <p:cNvPr id="7" name="Image 0" descr="preencoded.png">    </p:cNvPr>
          <p:cNvPicPr>
            <a:picLocks noChangeAspect="1"/>
          </p:cNvPicPr>
          <p:nvPr/>
        </p:nvPicPr>
        <p:blipFill>
          <a:blip r:embed="rId1"/>
          <a:stretch>
            <a:fillRect/>
          </a:stretch>
        </p:blipFill>
        <p:spPr>
          <a:xfrm>
            <a:off x="810299" y="5995789"/>
            <a:ext cx="186031" cy="148828"/>
          </a:xfrm>
          <a:prstGeom prst="rect">
            <a:avLst/>
          </a:prstGeom>
        </p:spPr>
      </p:pic>
      <p:sp>
        <p:nvSpPr>
          <p:cNvPr id="8" name="Text 4"/>
          <p:cNvSpPr/>
          <p:nvPr/>
        </p:nvSpPr>
        <p:spPr>
          <a:xfrm>
            <a:off x="1145154" y="5973663"/>
            <a:ext cx="10845826" cy="226219"/>
          </a:xfrm>
          <a:prstGeom prst="rect">
            <a:avLst/>
          </a:prstGeom>
          <a:noFill/>
          <a:ln/>
        </p:spPr>
        <p:txBody>
          <a:bodyPr wrap="none" lIns="0" tIns="0" rIns="0" bIns="0" rtlCol="0" anchor="t"/>
          <a:lstStyle/>
          <a:p>
            <a:pPr algn="l" indent="0" marL="0">
              <a:lnSpc>
                <a:spcPct val="127000"/>
              </a:lnSpc>
              <a:buNone/>
            </a:pPr>
            <a:r>
              <a:rPr lang="en-US" sz="1150" b="1" dirty="0">
                <a:solidFill>
                  <a:srgbClr val="FFFFFF"/>
                </a:solidFill>
                <a:latin typeface="Roboto Bold" pitchFamily="34" charset="0"/>
                <a:ea typeface="Roboto Bold" pitchFamily="34" charset="-122"/>
                <a:cs typeface="Roboto Bold" pitchFamily="34" charset="-120"/>
              </a:rPr>
              <a:t>"This isn't a better camera dashboard. It's the interoperability layer Gujarat's CCTV estate has never had."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464344"/>
            <a:ext cx="968053" cy="251420"/>
          </a:xfrm>
          <a:prstGeom prst="roundRect">
            <a:avLst>
              <a:gd name="adj" fmla="val 22103"/>
            </a:avLst>
          </a:prstGeom>
          <a:noFill/>
          <a:ln w="6350">
            <a:solidFill>
              <a:srgbClr val="F2F2F3"/>
            </a:solidFill>
            <a:prstDash val="solid"/>
          </a:ln>
        </p:spPr>
      </p:sp>
      <p:sp>
        <p:nvSpPr>
          <p:cNvPr id="3" name="Text 1"/>
          <p:cNvSpPr/>
          <p:nvPr/>
        </p:nvSpPr>
        <p:spPr>
          <a:xfrm>
            <a:off x="760691" y="513953"/>
            <a:ext cx="1379205" cy="152202"/>
          </a:xfrm>
          <a:prstGeom prst="rect">
            <a:avLst/>
          </a:prstGeom>
          <a:noFill/>
          <a:ln/>
        </p:spPr>
        <p:txBody>
          <a:bodyPr wrap="none" lIns="0" tIns="0" rIns="0" bIns="0" rtlCol="0" anchor="t"/>
          <a:lstStyle/>
          <a:p>
            <a:pPr algn="l" indent="0" marL="0">
              <a:lnSpc>
                <a:spcPct val="96000"/>
              </a:lnSpc>
              <a:buNone/>
            </a:pPr>
            <a:r>
              <a:rPr lang="en-US" sz="1000" dirty="0">
                <a:solidFill>
                  <a:srgbClr val="F2F2F3"/>
                </a:solidFill>
                <a:latin typeface="Roboto Light" pitchFamily="34" charset="0"/>
                <a:ea typeface="Roboto Light" pitchFamily="34" charset="-122"/>
                <a:cs typeface="Roboto Light" pitchFamily="34" charset="-120"/>
              </a:rPr>
              <a:t>TECH STACK</a:t>
            </a:r>
            <a:endParaRPr lang="en-US" sz="1000" dirty="0"/>
          </a:p>
        </p:txBody>
      </p:sp>
      <p:sp>
        <p:nvSpPr>
          <p:cNvPr id="4" name="Text 2"/>
          <p:cNvSpPr/>
          <p:nvPr/>
        </p:nvSpPr>
        <p:spPr>
          <a:xfrm>
            <a:off x="661475" y="781844"/>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F2F2F3"/>
                </a:solidFill>
                <a:latin typeface="Poppins Light" pitchFamily="34" charset="0"/>
                <a:ea typeface="Poppins Light" pitchFamily="34" charset="-122"/>
                <a:cs typeface="Poppins Light" pitchFamily="34" charset="-120"/>
              </a:rPr>
              <a:t>Production-Grade Stack, Zero Shortcuts</a:t>
            </a:r>
            <a:endParaRPr lang="en-US" sz="32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546622"/>
            <a:ext cx="3512653" cy="2049463"/>
          </a:xfrm>
          <a:prstGeom prst="rect">
            <a:avLst/>
          </a:prstGeom>
        </p:spPr>
      </p:pic>
      <p:sp>
        <p:nvSpPr>
          <p:cNvPr id="6" name="Text 3"/>
          <p:cNvSpPr/>
          <p:nvPr/>
        </p:nvSpPr>
        <p:spPr>
          <a:xfrm>
            <a:off x="922017" y="1730970"/>
            <a:ext cx="3067767" cy="258465"/>
          </a:xfrm>
          <a:prstGeom prst="rect">
            <a:avLst/>
          </a:prstGeom>
          <a:noFill/>
          <a:ln/>
        </p:spPr>
        <p:txBody>
          <a:bodyPr wrap="none" lIns="0" tIns="0" rIns="0" bIns="0" rtlCol="0" anchor="t"/>
          <a:lstStyle/>
          <a:p>
            <a:pPr algn="l" indent="0" marL="0">
              <a:lnSpc>
                <a:spcPct val="104000"/>
              </a:lnSpc>
              <a:buNone/>
            </a:pPr>
            <a:r>
              <a:rPr lang="en-US" sz="1600" dirty="0">
                <a:solidFill>
                  <a:srgbClr val="E5E0DF"/>
                </a:solidFill>
                <a:latin typeface="Poppins Light" pitchFamily="34" charset="0"/>
                <a:ea typeface="Poppins Light" pitchFamily="34" charset="-122"/>
                <a:cs typeface="Poppins Light" pitchFamily="34" charset="-120"/>
              </a:rPr>
              <a:t>BACKEND</a:t>
            </a:r>
            <a:endParaRPr lang="en-US" sz="1600" dirty="0"/>
          </a:p>
        </p:txBody>
      </p:sp>
      <p:sp>
        <p:nvSpPr>
          <p:cNvPr id="7" name="Text 4"/>
          <p:cNvSpPr/>
          <p:nvPr/>
        </p:nvSpPr>
        <p:spPr>
          <a:xfrm>
            <a:off x="922017" y="2088654"/>
            <a:ext cx="3067767"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E5E0DF"/>
                </a:solidFill>
                <a:latin typeface="Roboto Light" pitchFamily="34" charset="0"/>
                <a:ea typeface="Roboto Light" pitchFamily="34" charset="-122"/>
                <a:cs typeface="Roboto Light" pitchFamily="34" charset="-120"/>
              </a:rPr>
              <a:t>FastAPI, Python 3.12, SQLAlchemy 2.0 + GeoAlchemy2</a:t>
            </a:r>
            <a:endParaRPr lang="en-US" sz="13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9422" y="1546622"/>
            <a:ext cx="3512752" cy="2049463"/>
          </a:xfrm>
          <a:prstGeom prst="rect">
            <a:avLst/>
          </a:prstGeom>
        </p:spPr>
      </p:pic>
      <p:sp>
        <p:nvSpPr>
          <p:cNvPr id="9" name="Text 5"/>
          <p:cNvSpPr/>
          <p:nvPr/>
        </p:nvSpPr>
        <p:spPr>
          <a:xfrm>
            <a:off x="4599964" y="1730970"/>
            <a:ext cx="3067866" cy="258465"/>
          </a:xfrm>
          <a:prstGeom prst="rect">
            <a:avLst/>
          </a:prstGeom>
          <a:noFill/>
          <a:ln/>
        </p:spPr>
        <p:txBody>
          <a:bodyPr wrap="none" lIns="0" tIns="0" rIns="0" bIns="0" rtlCol="0" anchor="t"/>
          <a:lstStyle/>
          <a:p>
            <a:pPr algn="l" indent="0" marL="0">
              <a:lnSpc>
                <a:spcPct val="104000"/>
              </a:lnSpc>
              <a:buNone/>
            </a:pPr>
            <a:r>
              <a:rPr lang="en-US" sz="1600" dirty="0">
                <a:solidFill>
                  <a:srgbClr val="E5E0DF"/>
                </a:solidFill>
                <a:latin typeface="Poppins Light" pitchFamily="34" charset="0"/>
                <a:ea typeface="Poppins Light" pitchFamily="34" charset="-122"/>
                <a:cs typeface="Poppins Light" pitchFamily="34" charset="-120"/>
              </a:rPr>
              <a:t>DATA LAYER</a:t>
            </a:r>
            <a:endParaRPr lang="en-US" sz="1600" dirty="0"/>
          </a:p>
        </p:txBody>
      </p:sp>
      <p:sp>
        <p:nvSpPr>
          <p:cNvPr id="10" name="Text 6"/>
          <p:cNvSpPr/>
          <p:nvPr/>
        </p:nvSpPr>
        <p:spPr>
          <a:xfrm>
            <a:off x="4599964" y="2088654"/>
            <a:ext cx="3067866"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E5E0DF"/>
                </a:solidFill>
                <a:latin typeface="Roboto Light" pitchFamily="34" charset="0"/>
                <a:ea typeface="Roboto Light" pitchFamily="34" charset="-122"/>
                <a:cs typeface="Roboto Light" pitchFamily="34" charset="-120"/>
              </a:rPr>
              <a:t>PostgreSQL 16, PostGIS 3.4, pgvector (HNSW indexing), Redis (event bus &amp; cache)</a:t>
            </a:r>
            <a:endParaRPr lang="en-US" sz="13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17468" y="1546622"/>
            <a:ext cx="3512653" cy="2049463"/>
          </a:xfrm>
          <a:prstGeom prst="rect">
            <a:avLst/>
          </a:prstGeom>
        </p:spPr>
      </p:pic>
      <p:sp>
        <p:nvSpPr>
          <p:cNvPr id="12" name="Text 7"/>
          <p:cNvSpPr/>
          <p:nvPr/>
        </p:nvSpPr>
        <p:spPr>
          <a:xfrm>
            <a:off x="8278010" y="1730970"/>
            <a:ext cx="3067767" cy="258465"/>
          </a:xfrm>
          <a:prstGeom prst="rect">
            <a:avLst/>
          </a:prstGeom>
          <a:noFill/>
          <a:ln/>
        </p:spPr>
        <p:txBody>
          <a:bodyPr wrap="none" lIns="0" tIns="0" rIns="0" bIns="0" rtlCol="0" anchor="t"/>
          <a:lstStyle/>
          <a:p>
            <a:pPr algn="l" indent="0" marL="0">
              <a:lnSpc>
                <a:spcPct val="104000"/>
              </a:lnSpc>
              <a:buNone/>
            </a:pPr>
            <a:r>
              <a:rPr lang="en-US" sz="1600" dirty="0">
                <a:solidFill>
                  <a:srgbClr val="E5E0DF"/>
                </a:solidFill>
                <a:latin typeface="Poppins Light" pitchFamily="34" charset="0"/>
                <a:ea typeface="Poppins Light" pitchFamily="34" charset="-122"/>
                <a:cs typeface="Poppins Light" pitchFamily="34" charset="-120"/>
              </a:rPr>
              <a:t>AI / COMPUTER VISION</a:t>
            </a:r>
            <a:endParaRPr lang="en-US" sz="1600" dirty="0"/>
          </a:p>
        </p:txBody>
      </p:sp>
      <p:sp>
        <p:nvSpPr>
          <p:cNvPr id="13" name="Text 8"/>
          <p:cNvSpPr/>
          <p:nvPr/>
        </p:nvSpPr>
        <p:spPr>
          <a:xfrm>
            <a:off x="8278010" y="2088654"/>
            <a:ext cx="3067767"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E5E0DF"/>
                </a:solidFill>
                <a:latin typeface="Roboto Light" pitchFamily="34" charset="0"/>
                <a:ea typeface="Roboto Light" pitchFamily="34" charset="-122"/>
                <a:cs typeface="Roboto Light" pitchFamily="34" charset="-120"/>
              </a:rPr>
              <a:t>YOLO object detection, ByteTrack multi-object tracking, OCR-based ANPR with Indian/Bharat-series plate validation, 5-gate face quality pipeline, 512-d face embedding model</a:t>
            </a:r>
            <a:endParaRPr lang="en-US" sz="130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761383"/>
            <a:ext cx="3512653" cy="1784846"/>
          </a:xfrm>
          <a:prstGeom prst="rect">
            <a:avLst/>
          </a:prstGeom>
        </p:spPr>
      </p:pic>
      <p:sp>
        <p:nvSpPr>
          <p:cNvPr id="15" name="Text 9"/>
          <p:cNvSpPr/>
          <p:nvPr/>
        </p:nvSpPr>
        <p:spPr>
          <a:xfrm>
            <a:off x="922017" y="3945731"/>
            <a:ext cx="3067767" cy="258465"/>
          </a:xfrm>
          <a:prstGeom prst="rect">
            <a:avLst/>
          </a:prstGeom>
          <a:noFill/>
          <a:ln/>
        </p:spPr>
        <p:txBody>
          <a:bodyPr wrap="none" lIns="0" tIns="0" rIns="0" bIns="0" rtlCol="0" anchor="t"/>
          <a:lstStyle/>
          <a:p>
            <a:pPr algn="l" indent="0" marL="0">
              <a:lnSpc>
                <a:spcPct val="104000"/>
              </a:lnSpc>
              <a:buNone/>
            </a:pPr>
            <a:r>
              <a:rPr lang="en-US" sz="1600" dirty="0">
                <a:solidFill>
                  <a:srgbClr val="E5E0DF"/>
                </a:solidFill>
                <a:latin typeface="Poppins Light" pitchFamily="34" charset="0"/>
                <a:ea typeface="Poppins Light" pitchFamily="34" charset="-122"/>
                <a:cs typeface="Poppins Light" pitchFamily="34" charset="-120"/>
              </a:rPr>
              <a:t>FRONTEND</a:t>
            </a:r>
            <a:endParaRPr lang="en-US" sz="1600" dirty="0"/>
          </a:p>
        </p:txBody>
      </p:sp>
      <p:sp>
        <p:nvSpPr>
          <p:cNvPr id="16" name="Text 10"/>
          <p:cNvSpPr/>
          <p:nvPr/>
        </p:nvSpPr>
        <p:spPr>
          <a:xfrm>
            <a:off x="922017" y="4303415"/>
            <a:ext cx="3067767"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E5E0DF"/>
                </a:solidFill>
                <a:latin typeface="Roboto Light" pitchFamily="34" charset="0"/>
                <a:ea typeface="Roboto Light" pitchFamily="34" charset="-122"/>
                <a:cs typeface="Roboto Light" pitchFamily="34" charset="-120"/>
              </a:rPr>
              <a:t>Server-rendered Jinja2 templates, HTMX, Alpine.js. Zero Node.js build step, zero client-side framework bloat</a:t>
            </a:r>
            <a:endParaRPr lang="en-US" sz="1300" dirty="0"/>
          </a:p>
        </p:txBody>
      </p:sp>
      <p:pic>
        <p:nvPicPr>
          <p:cNvPr id="1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39422" y="3761383"/>
            <a:ext cx="3512752" cy="1784846"/>
          </a:xfrm>
          <a:prstGeom prst="rect">
            <a:avLst/>
          </a:prstGeom>
        </p:spPr>
      </p:pic>
      <p:sp>
        <p:nvSpPr>
          <p:cNvPr id="18" name="Text 11"/>
          <p:cNvSpPr/>
          <p:nvPr/>
        </p:nvSpPr>
        <p:spPr>
          <a:xfrm>
            <a:off x="4599964" y="3945731"/>
            <a:ext cx="3067866" cy="258465"/>
          </a:xfrm>
          <a:prstGeom prst="rect">
            <a:avLst/>
          </a:prstGeom>
          <a:noFill/>
          <a:ln/>
        </p:spPr>
        <p:txBody>
          <a:bodyPr wrap="none" lIns="0" tIns="0" rIns="0" bIns="0" rtlCol="0" anchor="t"/>
          <a:lstStyle/>
          <a:p>
            <a:pPr algn="l" indent="0" marL="0">
              <a:lnSpc>
                <a:spcPct val="104000"/>
              </a:lnSpc>
              <a:buNone/>
            </a:pPr>
            <a:r>
              <a:rPr lang="en-US" sz="1600" dirty="0">
                <a:solidFill>
                  <a:srgbClr val="E5E0DF"/>
                </a:solidFill>
                <a:latin typeface="Poppins Light" pitchFamily="34" charset="0"/>
                <a:ea typeface="Poppins Light" pitchFamily="34" charset="-122"/>
                <a:cs typeface="Poppins Light" pitchFamily="34" charset="-120"/>
              </a:rPr>
              <a:t>INFRASTRUCTURE</a:t>
            </a:r>
            <a:endParaRPr lang="en-US" sz="1600" dirty="0"/>
          </a:p>
        </p:txBody>
      </p:sp>
      <p:sp>
        <p:nvSpPr>
          <p:cNvPr id="19" name="Text 12"/>
          <p:cNvSpPr/>
          <p:nvPr/>
        </p:nvSpPr>
        <p:spPr>
          <a:xfrm>
            <a:off x="4599964" y="4303415"/>
            <a:ext cx="3067866"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E5E0DF"/>
                </a:solidFill>
                <a:latin typeface="Roboto Light" pitchFamily="34" charset="0"/>
                <a:ea typeface="Roboto Light" pitchFamily="34" charset="-122"/>
                <a:cs typeface="Roboto Light" pitchFamily="34" charset="-120"/>
              </a:rPr>
              <a:t>Docker Compose (single-command deployment), Caddy (automatic TLS termination), WebSocket real-time channels</a:t>
            </a:r>
            <a:endParaRPr lang="en-US" sz="1300" dirty="0"/>
          </a:p>
        </p:txBody>
      </p:sp>
      <p:sp>
        <p:nvSpPr>
          <p:cNvPr id="20" name="Shape 13"/>
          <p:cNvSpPr/>
          <p:nvPr/>
        </p:nvSpPr>
        <p:spPr>
          <a:xfrm>
            <a:off x="661475" y="5732264"/>
            <a:ext cx="10868745" cy="661293"/>
          </a:xfrm>
          <a:prstGeom prst="roundRect">
            <a:avLst>
              <a:gd name="adj" fmla="val 10504"/>
            </a:avLst>
          </a:prstGeom>
          <a:solidFill>
            <a:srgbClr val="3D3D42"/>
          </a:solidFill>
          <a:ln/>
        </p:spPr>
      </p:sp>
      <p:pic>
        <p:nvPicPr>
          <p:cNvPr id="21" name="Image 5" descr="preencoded.png">    </p:cNvPr>
          <p:cNvPicPr>
            <a:picLocks noChangeAspect="1"/>
          </p:cNvPicPr>
          <p:nvPr/>
        </p:nvPicPr>
        <p:blipFill>
          <a:blip r:embed="rId11"/>
          <a:stretch>
            <a:fillRect/>
          </a:stretch>
        </p:blipFill>
        <p:spPr>
          <a:xfrm>
            <a:off x="826769" y="5971977"/>
            <a:ext cx="206667" cy="165298"/>
          </a:xfrm>
          <a:prstGeom prst="rect">
            <a:avLst/>
          </a:prstGeom>
        </p:spPr>
      </p:pic>
      <p:sp>
        <p:nvSpPr>
          <p:cNvPr id="22" name="Text 14"/>
          <p:cNvSpPr/>
          <p:nvPr/>
        </p:nvSpPr>
        <p:spPr>
          <a:xfrm>
            <a:off x="1198731" y="5938838"/>
            <a:ext cx="10775780" cy="264616"/>
          </a:xfrm>
          <a:prstGeom prst="rect">
            <a:avLst/>
          </a:prstGeom>
          <a:noFill/>
          <a:ln/>
        </p:spPr>
        <p:txBody>
          <a:bodyPr wrap="none" lIns="0" tIns="0" rIns="0" bIns="0" rtlCol="0" anchor="t"/>
          <a:lstStyle/>
          <a:p>
            <a:pPr algn="l" indent="0" marL="0">
              <a:lnSpc>
                <a:spcPct val="133000"/>
              </a:lnSpc>
              <a:buNone/>
            </a:pPr>
            <a:r>
              <a:rPr lang="en-US" sz="1300" b="1" dirty="0">
                <a:solidFill>
                  <a:srgbClr val="FFFFFF"/>
                </a:solidFill>
                <a:latin typeface="Roboto Bold" pitchFamily="34" charset="0"/>
                <a:ea typeface="Roboto Bold" pitchFamily="34" charset="-122"/>
                <a:cs typeface="Roboto Bold" pitchFamily="34" charset="-120"/>
              </a:rPr>
              <a:t>No Node.js. No React. No client build pipeline. One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487561"/>
            <a:ext cx="778550" cy="238820"/>
          </a:xfrm>
          <a:prstGeom prst="roundRect">
            <a:avLst>
              <a:gd name="adj" fmla="val 22106"/>
            </a:avLst>
          </a:prstGeom>
          <a:noFill/>
          <a:ln w="6350">
            <a:solidFill>
              <a:srgbClr val="F2F2F3"/>
            </a:solidFill>
            <a:prstDash val="solid"/>
          </a:ln>
        </p:spPr>
      </p:sp>
      <p:sp>
        <p:nvSpPr>
          <p:cNvPr id="3" name="Text 1"/>
          <p:cNvSpPr/>
          <p:nvPr/>
        </p:nvSpPr>
        <p:spPr>
          <a:xfrm>
            <a:off x="755730" y="534690"/>
            <a:ext cx="1199624" cy="144562"/>
          </a:xfrm>
          <a:prstGeom prst="rect">
            <a:avLst/>
          </a:prstGeom>
          <a:noFill/>
          <a:ln/>
        </p:spPr>
        <p:txBody>
          <a:bodyPr wrap="none" lIns="0" tIns="0" rIns="0" bIns="0" rtlCol="0" anchor="t"/>
          <a:lstStyle/>
          <a:p>
            <a:pPr algn="l" indent="0" marL="0">
              <a:lnSpc>
                <a:spcPct val="96000"/>
              </a:lnSpc>
              <a:buNone/>
            </a:pPr>
            <a:r>
              <a:rPr lang="en-US" sz="950" dirty="0">
                <a:solidFill>
                  <a:srgbClr val="F2F2F3"/>
                </a:solidFill>
                <a:latin typeface="Roboto Light" pitchFamily="34" charset="0"/>
                <a:ea typeface="Roboto Light" pitchFamily="34" charset="-122"/>
                <a:cs typeface="Roboto Light" pitchFamily="34" charset="-120"/>
              </a:rPr>
              <a:t>ROADMAP</a:t>
            </a:r>
            <a:endParaRPr lang="en-US" sz="950" dirty="0"/>
          </a:p>
        </p:txBody>
      </p:sp>
      <p:sp>
        <p:nvSpPr>
          <p:cNvPr id="4" name="Text 2"/>
          <p:cNvSpPr/>
          <p:nvPr/>
        </p:nvSpPr>
        <p:spPr>
          <a:xfrm>
            <a:off x="661475" y="786011"/>
            <a:ext cx="10868745" cy="981869"/>
          </a:xfrm>
          <a:prstGeom prst="rect">
            <a:avLst/>
          </a:prstGeom>
          <a:noFill/>
          <a:ln/>
        </p:spPr>
        <p:txBody>
          <a:bodyPr wrap="square" lIns="0" tIns="0" rIns="0" bIns="0" rtlCol="0" anchor="t">
            <a:normAutofit/>
          </a:bodyPr>
          <a:lstStyle/>
          <a:p>
            <a:pPr algn="l" indent="0" marL="0">
              <a:lnSpc>
                <a:spcPct val="104000"/>
              </a:lnSpc>
              <a:buNone/>
            </a:pPr>
            <a:r>
              <a:rPr lang="en-US" sz="3050" dirty="0">
                <a:solidFill>
                  <a:srgbClr val="F2F2F3"/>
                </a:solidFill>
                <a:latin typeface="Poppins Light" pitchFamily="34" charset="0"/>
                <a:ea typeface="Poppins Light" pitchFamily="34" charset="-122"/>
                <a:cs typeface="Poppins Light" pitchFamily="34" charset="-120"/>
              </a:rPr>
              <a:t>From Pilot to Statewide, With Security Built In, Not Bolted On</a:t>
            </a:r>
            <a:endParaRPr lang="en-US" sz="3050" dirty="0"/>
          </a:p>
        </p:txBody>
      </p:sp>
      <p:sp>
        <p:nvSpPr>
          <p:cNvPr id="5" name="Shape 3"/>
          <p:cNvSpPr/>
          <p:nvPr/>
        </p:nvSpPr>
        <p:spPr>
          <a:xfrm>
            <a:off x="661475" y="4426248"/>
            <a:ext cx="10868745" cy="19050"/>
          </a:xfrm>
          <a:prstGeom prst="roundRect">
            <a:avLst>
              <a:gd name="adj" fmla="val 49999"/>
            </a:avLst>
          </a:prstGeom>
          <a:solidFill>
            <a:srgbClr val="56565B"/>
          </a:solidFill>
          <a:ln/>
        </p:spPr>
      </p:sp>
      <p:sp>
        <p:nvSpPr>
          <p:cNvPr id="6" name="Shape 4"/>
          <p:cNvSpPr/>
          <p:nvPr/>
        </p:nvSpPr>
        <p:spPr>
          <a:xfrm>
            <a:off x="3322356" y="3955008"/>
            <a:ext cx="19050" cy="471289"/>
          </a:xfrm>
          <a:prstGeom prst="roundRect">
            <a:avLst>
              <a:gd name="adj" fmla="val 49999"/>
            </a:avLst>
          </a:prstGeom>
          <a:solidFill>
            <a:srgbClr val="56565B"/>
          </a:solidFill>
          <a:ln/>
        </p:spPr>
      </p:sp>
      <p:sp>
        <p:nvSpPr>
          <p:cNvPr id="7" name="Shape 5"/>
          <p:cNvSpPr/>
          <p:nvPr/>
        </p:nvSpPr>
        <p:spPr>
          <a:xfrm>
            <a:off x="3155177" y="4249489"/>
            <a:ext cx="353508" cy="353516"/>
          </a:xfrm>
          <a:prstGeom prst="roundRect">
            <a:avLst>
              <a:gd name="adj" fmla="val 18668"/>
            </a:avLst>
          </a:prstGeom>
          <a:solidFill>
            <a:srgbClr val="3D3D42"/>
          </a:solidFill>
          <a:ln w="6350">
            <a:solidFill>
              <a:srgbClr val="56565B"/>
            </a:solidFill>
            <a:prstDash val="solid"/>
          </a:ln>
        </p:spPr>
      </p:sp>
      <p:sp>
        <p:nvSpPr>
          <p:cNvPr id="8" name="Text 6"/>
          <p:cNvSpPr/>
          <p:nvPr/>
        </p:nvSpPr>
        <p:spPr>
          <a:xfrm>
            <a:off x="3214061" y="4278908"/>
            <a:ext cx="235639" cy="294580"/>
          </a:xfrm>
          <a:prstGeom prst="rect">
            <a:avLst/>
          </a:prstGeom>
          <a:noFill/>
          <a:ln/>
        </p:spPr>
        <p:txBody>
          <a:bodyPr wrap="none" lIns="0" tIns="0" rIns="0" bIns="0" rtlCol="0" anchor="ctr"/>
          <a:lstStyle/>
          <a:p>
            <a:pPr algn="ctr" indent="0" marL="0">
              <a:lnSpc>
                <a:spcPct val="100000"/>
              </a:lnSpc>
              <a:buNone/>
            </a:pPr>
            <a:r>
              <a:rPr lang="en-US" sz="1850" dirty="0">
                <a:solidFill>
                  <a:srgbClr val="E5E0DF"/>
                </a:solidFill>
                <a:latin typeface="Poppins Light" pitchFamily="34" charset="0"/>
                <a:ea typeface="Poppins Light" pitchFamily="34" charset="-122"/>
                <a:cs typeface="Poppins Light" pitchFamily="34" charset="-120"/>
              </a:rPr>
              <a:t>1</a:t>
            </a:r>
            <a:endParaRPr lang="en-US" sz="1850" dirty="0"/>
          </a:p>
        </p:txBody>
      </p:sp>
      <p:sp>
        <p:nvSpPr>
          <p:cNvPr id="9" name="Text 7"/>
          <p:cNvSpPr/>
          <p:nvPr/>
        </p:nvSpPr>
        <p:spPr>
          <a:xfrm>
            <a:off x="818534" y="1991717"/>
            <a:ext cx="5026991" cy="245566"/>
          </a:xfrm>
          <a:prstGeom prst="rect">
            <a:avLst/>
          </a:prstGeom>
          <a:noFill/>
          <a:ln/>
        </p:spPr>
        <p:txBody>
          <a:bodyPr wrap="none" lIns="0" tIns="0" rIns="0" bIns="0" rtlCol="0" anchor="t"/>
          <a:lstStyle/>
          <a:p>
            <a:pPr algn="ctr" indent="0" marL="0">
              <a:lnSpc>
                <a:spcPct val="104000"/>
              </a:lnSpc>
              <a:buNone/>
            </a:pPr>
            <a:r>
              <a:rPr lang="en-US" sz="1500" dirty="0">
                <a:solidFill>
                  <a:srgbClr val="E5E0DF"/>
                </a:solidFill>
                <a:latin typeface="Poppins Light" pitchFamily="34" charset="0"/>
                <a:ea typeface="Poppins Light" pitchFamily="34" charset="-122"/>
                <a:cs typeface="Poppins Light" pitchFamily="34" charset="-120"/>
              </a:rPr>
              <a:t>PHASE 1 — NOW (PILOT)</a:t>
            </a:r>
            <a:endParaRPr lang="en-US" sz="1500" dirty="0"/>
          </a:p>
        </p:txBody>
      </p:sp>
      <p:sp>
        <p:nvSpPr>
          <p:cNvPr id="10" name="Text 8"/>
          <p:cNvSpPr/>
          <p:nvPr/>
        </p:nvSpPr>
        <p:spPr>
          <a:xfrm>
            <a:off x="818534" y="2326779"/>
            <a:ext cx="5026991" cy="980678"/>
          </a:xfrm>
          <a:prstGeom prst="rect">
            <a:avLst/>
          </a:prstGeom>
          <a:noFill/>
          <a:ln/>
        </p:spPr>
        <p:txBody>
          <a:bodyPr wrap="square" lIns="0" tIns="0" rIns="0" bIns="0" rtlCol="0" anchor="t">
            <a:normAutofit/>
          </a:bodyPr>
          <a:lstStyle/>
          <a:p>
            <a:pPr algn="ctr" indent="0" marL="0">
              <a:lnSpc>
                <a:spcPct val="130000"/>
              </a:lnSpc>
              <a:buNone/>
            </a:pPr>
            <a:r>
              <a:rPr lang="en-US" sz="1200" dirty="0">
                <a:solidFill>
                  <a:srgbClr val="E5E0DF"/>
                </a:solidFill>
                <a:latin typeface="Roboto Light" pitchFamily="34" charset="0"/>
                <a:ea typeface="Roboto Light" pitchFamily="34" charset="-122"/>
                <a:cs typeface="Roboto Light" pitchFamily="34" charset="-120"/>
              </a:rPr>
              <a:t>Single-host deployment: Caddy to FastAPI application to PostgreSQL/Redis/MediaMTX. All 3 models live and integrated. Demo-ready across the full pipeline: registry, live detection, watchlist matching, and federation.</a:t>
            </a:r>
            <a:endParaRPr lang="en-US" sz="1200" dirty="0"/>
          </a:p>
        </p:txBody>
      </p:sp>
      <p:sp>
        <p:nvSpPr>
          <p:cNvPr id="11" name="Shape 9"/>
          <p:cNvSpPr/>
          <p:nvPr/>
        </p:nvSpPr>
        <p:spPr>
          <a:xfrm>
            <a:off x="6086124" y="4426198"/>
            <a:ext cx="19050" cy="471289"/>
          </a:xfrm>
          <a:prstGeom prst="roundRect">
            <a:avLst>
              <a:gd name="adj" fmla="val 49999"/>
            </a:avLst>
          </a:prstGeom>
          <a:solidFill>
            <a:srgbClr val="56565B"/>
          </a:solidFill>
          <a:ln/>
        </p:spPr>
      </p:sp>
      <p:sp>
        <p:nvSpPr>
          <p:cNvPr id="12" name="Shape 10"/>
          <p:cNvSpPr/>
          <p:nvPr/>
        </p:nvSpPr>
        <p:spPr>
          <a:xfrm>
            <a:off x="5918945" y="4249489"/>
            <a:ext cx="353508" cy="353516"/>
          </a:xfrm>
          <a:prstGeom prst="roundRect">
            <a:avLst>
              <a:gd name="adj" fmla="val 18668"/>
            </a:avLst>
          </a:prstGeom>
          <a:solidFill>
            <a:srgbClr val="3D3D42"/>
          </a:solidFill>
          <a:ln w="6350">
            <a:solidFill>
              <a:srgbClr val="56565B"/>
            </a:solidFill>
            <a:prstDash val="solid"/>
          </a:ln>
        </p:spPr>
      </p:sp>
      <p:sp>
        <p:nvSpPr>
          <p:cNvPr id="13" name="Text 11"/>
          <p:cNvSpPr/>
          <p:nvPr/>
        </p:nvSpPr>
        <p:spPr>
          <a:xfrm>
            <a:off x="5977830" y="4278908"/>
            <a:ext cx="235639" cy="294580"/>
          </a:xfrm>
          <a:prstGeom prst="rect">
            <a:avLst/>
          </a:prstGeom>
          <a:noFill/>
          <a:ln/>
        </p:spPr>
        <p:txBody>
          <a:bodyPr wrap="none" lIns="0" tIns="0" rIns="0" bIns="0" rtlCol="0" anchor="ctr"/>
          <a:lstStyle/>
          <a:p>
            <a:pPr algn="ctr" indent="0" marL="0">
              <a:lnSpc>
                <a:spcPct val="100000"/>
              </a:lnSpc>
              <a:buNone/>
            </a:pPr>
            <a:r>
              <a:rPr lang="en-US" sz="1850" dirty="0">
                <a:solidFill>
                  <a:srgbClr val="E5E0DF"/>
                </a:solidFill>
                <a:latin typeface="Poppins Light" pitchFamily="34" charset="0"/>
                <a:ea typeface="Poppins Light" pitchFamily="34" charset="-122"/>
                <a:cs typeface="Poppins Light" pitchFamily="34" charset="-120"/>
              </a:rPr>
              <a:t>2</a:t>
            </a:r>
            <a:endParaRPr lang="en-US" sz="1850" dirty="0"/>
          </a:p>
        </p:txBody>
      </p:sp>
      <p:sp>
        <p:nvSpPr>
          <p:cNvPr id="14" name="Text 12"/>
          <p:cNvSpPr/>
          <p:nvPr/>
        </p:nvSpPr>
        <p:spPr>
          <a:xfrm>
            <a:off x="3582303" y="5054699"/>
            <a:ext cx="5026991" cy="245566"/>
          </a:xfrm>
          <a:prstGeom prst="rect">
            <a:avLst/>
          </a:prstGeom>
          <a:noFill/>
          <a:ln/>
        </p:spPr>
        <p:txBody>
          <a:bodyPr wrap="none" lIns="0" tIns="0" rIns="0" bIns="0" rtlCol="0" anchor="t"/>
          <a:lstStyle/>
          <a:p>
            <a:pPr algn="ctr" indent="0" marL="0">
              <a:lnSpc>
                <a:spcPct val="104000"/>
              </a:lnSpc>
              <a:buNone/>
            </a:pPr>
            <a:r>
              <a:rPr lang="en-US" sz="1500" dirty="0">
                <a:solidFill>
                  <a:srgbClr val="E5E0DF"/>
                </a:solidFill>
                <a:latin typeface="Poppins Light" pitchFamily="34" charset="0"/>
                <a:ea typeface="Poppins Light" pitchFamily="34" charset="-122"/>
                <a:cs typeface="Poppins Light" pitchFamily="34" charset="-120"/>
              </a:rPr>
              <a:t>PHASE 2 — NEXT (HARDENING)</a:t>
            </a:r>
            <a:endParaRPr lang="en-US" sz="1500" dirty="0"/>
          </a:p>
        </p:txBody>
      </p:sp>
      <p:sp>
        <p:nvSpPr>
          <p:cNvPr id="15" name="Text 13"/>
          <p:cNvSpPr/>
          <p:nvPr/>
        </p:nvSpPr>
        <p:spPr>
          <a:xfrm>
            <a:off x="3582303" y="5389761"/>
            <a:ext cx="5026991" cy="980678"/>
          </a:xfrm>
          <a:prstGeom prst="rect">
            <a:avLst/>
          </a:prstGeom>
          <a:noFill/>
          <a:ln/>
        </p:spPr>
        <p:txBody>
          <a:bodyPr wrap="square" lIns="0" tIns="0" rIns="0" bIns="0" rtlCol="0" anchor="t">
            <a:normAutofit/>
          </a:bodyPr>
          <a:lstStyle/>
          <a:p>
            <a:pPr algn="ctr" indent="0" marL="0">
              <a:lnSpc>
                <a:spcPct val="130000"/>
              </a:lnSpc>
              <a:buNone/>
            </a:pPr>
            <a:r>
              <a:rPr lang="en-US" sz="1200" dirty="0">
                <a:solidFill>
                  <a:srgbClr val="E5E0DF"/>
                </a:solidFill>
                <a:latin typeface="Roboto Light" pitchFamily="34" charset="0"/>
                <a:ea typeface="Roboto Light" pitchFamily="34" charset="-122"/>
                <a:cs typeface="Roboto Light" pitchFamily="34" charset="-120"/>
              </a:rPr>
              <a:t>At-rest encryption for watchlist and detection tables. Application-layer encryption for stored VMS credentials, replacing today's plaintext config storage. Network segmentation between the VMS-ingestion network and the public dashboard network. Edge-level API gateway and rate limiting.</a:t>
            </a:r>
            <a:endParaRPr lang="en-US" sz="1200" dirty="0"/>
          </a:p>
        </p:txBody>
      </p:sp>
      <p:sp>
        <p:nvSpPr>
          <p:cNvPr id="16" name="Shape 14"/>
          <p:cNvSpPr/>
          <p:nvPr/>
        </p:nvSpPr>
        <p:spPr>
          <a:xfrm>
            <a:off x="8849992" y="3955008"/>
            <a:ext cx="19050" cy="471289"/>
          </a:xfrm>
          <a:prstGeom prst="roundRect">
            <a:avLst>
              <a:gd name="adj" fmla="val 49999"/>
            </a:avLst>
          </a:prstGeom>
          <a:solidFill>
            <a:srgbClr val="56565B"/>
          </a:solidFill>
          <a:ln/>
        </p:spPr>
      </p:sp>
      <p:sp>
        <p:nvSpPr>
          <p:cNvPr id="17" name="Shape 15"/>
          <p:cNvSpPr/>
          <p:nvPr/>
        </p:nvSpPr>
        <p:spPr>
          <a:xfrm>
            <a:off x="8682812" y="4249489"/>
            <a:ext cx="353508" cy="353516"/>
          </a:xfrm>
          <a:prstGeom prst="roundRect">
            <a:avLst>
              <a:gd name="adj" fmla="val 18668"/>
            </a:avLst>
          </a:prstGeom>
          <a:solidFill>
            <a:srgbClr val="3D3D42"/>
          </a:solidFill>
          <a:ln w="6350">
            <a:solidFill>
              <a:srgbClr val="56565B"/>
            </a:solidFill>
            <a:prstDash val="solid"/>
          </a:ln>
        </p:spPr>
      </p:sp>
      <p:sp>
        <p:nvSpPr>
          <p:cNvPr id="18" name="Text 16"/>
          <p:cNvSpPr/>
          <p:nvPr/>
        </p:nvSpPr>
        <p:spPr>
          <a:xfrm>
            <a:off x="8741697" y="4278908"/>
            <a:ext cx="235639" cy="294580"/>
          </a:xfrm>
          <a:prstGeom prst="rect">
            <a:avLst/>
          </a:prstGeom>
          <a:noFill/>
          <a:ln/>
        </p:spPr>
        <p:txBody>
          <a:bodyPr wrap="none" lIns="0" tIns="0" rIns="0" bIns="0" rtlCol="0" anchor="ctr"/>
          <a:lstStyle/>
          <a:p>
            <a:pPr algn="ctr" indent="0" marL="0">
              <a:lnSpc>
                <a:spcPct val="100000"/>
              </a:lnSpc>
              <a:buNone/>
            </a:pPr>
            <a:r>
              <a:rPr lang="en-US" sz="1850" dirty="0">
                <a:solidFill>
                  <a:srgbClr val="E5E0DF"/>
                </a:solidFill>
                <a:latin typeface="Poppins Light" pitchFamily="34" charset="0"/>
                <a:ea typeface="Poppins Light" pitchFamily="34" charset="-122"/>
                <a:cs typeface="Poppins Light" pitchFamily="34" charset="-120"/>
              </a:rPr>
              <a:t>3</a:t>
            </a:r>
            <a:endParaRPr lang="en-US" sz="1850" dirty="0"/>
          </a:p>
        </p:txBody>
      </p:sp>
      <p:sp>
        <p:nvSpPr>
          <p:cNvPr id="19" name="Text 17"/>
          <p:cNvSpPr/>
          <p:nvPr/>
        </p:nvSpPr>
        <p:spPr>
          <a:xfrm>
            <a:off x="6346170" y="1991717"/>
            <a:ext cx="5026991" cy="245566"/>
          </a:xfrm>
          <a:prstGeom prst="rect">
            <a:avLst/>
          </a:prstGeom>
          <a:noFill/>
          <a:ln/>
        </p:spPr>
        <p:txBody>
          <a:bodyPr wrap="none" lIns="0" tIns="0" rIns="0" bIns="0" rtlCol="0" anchor="t"/>
          <a:lstStyle/>
          <a:p>
            <a:pPr algn="ctr" indent="0" marL="0">
              <a:lnSpc>
                <a:spcPct val="104000"/>
              </a:lnSpc>
              <a:buNone/>
            </a:pPr>
            <a:r>
              <a:rPr lang="en-US" sz="1500" dirty="0">
                <a:solidFill>
                  <a:srgbClr val="E5E0DF"/>
                </a:solidFill>
                <a:latin typeface="Poppins Light" pitchFamily="34" charset="0"/>
                <a:ea typeface="Poppins Light" pitchFamily="34" charset="-122"/>
                <a:cs typeface="Poppins Light" pitchFamily="34" charset="-120"/>
              </a:rPr>
              <a:t>PHASE 3 — STATEWIDE SCALE</a:t>
            </a:r>
            <a:endParaRPr lang="en-US" sz="1500" dirty="0"/>
          </a:p>
        </p:txBody>
      </p:sp>
      <p:sp>
        <p:nvSpPr>
          <p:cNvPr id="20" name="Text 18"/>
          <p:cNvSpPr/>
          <p:nvPr/>
        </p:nvSpPr>
        <p:spPr>
          <a:xfrm>
            <a:off x="6346170" y="2326779"/>
            <a:ext cx="5026991" cy="1471017"/>
          </a:xfrm>
          <a:prstGeom prst="rect">
            <a:avLst/>
          </a:prstGeom>
          <a:noFill/>
          <a:ln/>
        </p:spPr>
        <p:txBody>
          <a:bodyPr wrap="square" lIns="0" tIns="0" rIns="0" bIns="0" rtlCol="0" anchor="t">
            <a:normAutofit/>
          </a:bodyPr>
          <a:lstStyle/>
          <a:p>
            <a:pPr algn="ctr" indent="0" marL="0">
              <a:lnSpc>
                <a:spcPct val="130000"/>
              </a:lnSpc>
              <a:buNone/>
            </a:pPr>
            <a:r>
              <a:rPr lang="en-US" sz="1200" dirty="0">
                <a:solidFill>
                  <a:srgbClr val="E5E0DF"/>
                </a:solidFill>
                <a:latin typeface="Roboto Light" pitchFamily="34" charset="0"/>
                <a:ea typeface="Roboto Light" pitchFamily="34" charset="-122"/>
                <a:cs typeface="Roboto Light" pitchFamily="34" charset="-120"/>
              </a:rPr>
              <a:t>Horizontally scaled deployment: load balancer, multiple app instances, a central Postgres cluster, and regional edge nodes for media relay positioned near camera clusters across all 33 districts. Appearance-based re-identification fallback for cases where OCR fails mid-route. Analog camera ingestion. Live disaster recovery with regional replication and tested failover.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1842691"/>
            <a:ext cx="1254193" cy="251420"/>
          </a:xfrm>
          <a:prstGeom prst="roundRect">
            <a:avLst>
              <a:gd name="adj" fmla="val 22103"/>
            </a:avLst>
          </a:prstGeom>
          <a:solidFill>
            <a:srgbClr val="252528"/>
          </a:solidFill>
          <a:ln/>
        </p:spPr>
      </p:sp>
      <p:sp>
        <p:nvSpPr>
          <p:cNvPr id="3" name="Text 1"/>
          <p:cNvSpPr/>
          <p:nvPr/>
        </p:nvSpPr>
        <p:spPr>
          <a:xfrm>
            <a:off x="760691" y="1892300"/>
            <a:ext cx="1665345" cy="152202"/>
          </a:xfrm>
          <a:prstGeom prst="rect">
            <a:avLst/>
          </a:prstGeom>
          <a:noFill/>
          <a:ln/>
        </p:spPr>
        <p:txBody>
          <a:bodyPr wrap="none" lIns="0" tIns="0" rIns="0" bIns="0" rtlCol="0" anchor="t"/>
          <a:lstStyle/>
          <a:p>
            <a:pPr algn="l" indent="0" marL="0">
              <a:lnSpc>
                <a:spcPct val="96000"/>
              </a:lnSpc>
              <a:buNone/>
            </a:pPr>
            <a:r>
              <a:rPr lang="en-US" sz="1000" dirty="0">
                <a:solidFill>
                  <a:srgbClr val="E5E0DF"/>
                </a:solidFill>
                <a:latin typeface="Roboto Light" pitchFamily="34" charset="0"/>
                <a:ea typeface="Roboto Light" pitchFamily="34" charset="-122"/>
                <a:cs typeface="Roboto Light" pitchFamily="34" charset="-120"/>
              </a:rPr>
              <a:t>THE ASK / VISION</a:t>
            </a:r>
            <a:endParaRPr lang="en-US" sz="1000" dirty="0"/>
          </a:p>
        </p:txBody>
      </p:sp>
      <p:sp>
        <p:nvSpPr>
          <p:cNvPr id="4" name="Text 2"/>
          <p:cNvSpPr/>
          <p:nvPr/>
        </p:nvSpPr>
        <p:spPr>
          <a:xfrm>
            <a:off x="661475" y="2160191"/>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F2F2F3"/>
                </a:solidFill>
                <a:latin typeface="Poppins Light" pitchFamily="34" charset="0"/>
                <a:ea typeface="Poppins Light" pitchFamily="34" charset="-122"/>
                <a:cs typeface="Poppins Light" pitchFamily="34" charset="-120"/>
              </a:rPr>
              <a:t>80,000 Cameras. One Intelligence Layer.</a:t>
            </a:r>
            <a:endParaRPr lang="en-US" sz="3250" dirty="0"/>
          </a:p>
        </p:txBody>
      </p:sp>
      <p:sp>
        <p:nvSpPr>
          <p:cNvPr id="5" name="Text 3"/>
          <p:cNvSpPr/>
          <p:nvPr/>
        </p:nvSpPr>
        <p:spPr>
          <a:xfrm>
            <a:off x="661475" y="2924969"/>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E5E0DF"/>
                </a:solidFill>
                <a:latin typeface="Roboto Light" pitchFamily="34" charset="0"/>
                <a:ea typeface="Roboto Light" pitchFamily="34" charset="-122"/>
                <a:cs typeface="Roboto Light" pitchFamily="34" charset="-120"/>
              </a:rPr>
              <a:t>EyesOnGuj doesn't ask Gujarat's departments to replace what they've already built. It asks them to connect it, turning every existing RTSP feed, every ONVIF device, every vendor VMS already deployed statewide into one coordinated, correlated, real-time intelligence layer.</a:t>
            </a:r>
            <a:endParaRPr lang="en-US" sz="1300" dirty="0"/>
          </a:p>
        </p:txBody>
      </p:sp>
      <p:sp>
        <p:nvSpPr>
          <p:cNvPr id="6" name="Text 4"/>
          <p:cNvSpPr/>
          <p:nvPr/>
        </p:nvSpPr>
        <p:spPr>
          <a:xfrm>
            <a:off x="909516" y="3826272"/>
            <a:ext cx="11230289" cy="264616"/>
          </a:xfrm>
          <a:prstGeom prst="rect">
            <a:avLst/>
          </a:prstGeom>
          <a:noFill/>
          <a:ln/>
        </p:spPr>
        <p:txBody>
          <a:bodyPr wrap="none" lIns="0" tIns="0" rIns="0" bIns="0" rtlCol="0" anchor="t"/>
          <a:lstStyle/>
          <a:p>
            <a:pPr algn="l" indent="0" marL="0">
              <a:lnSpc>
                <a:spcPct val="133000"/>
              </a:lnSpc>
              <a:buNone/>
            </a:pPr>
            <a:r>
              <a:rPr lang="en-US" sz="1300" b="1" dirty="0">
                <a:solidFill>
                  <a:srgbClr val="E5E0DF"/>
                </a:solidFill>
                <a:latin typeface="Roboto Bold" pitchFamily="34" charset="0"/>
                <a:ea typeface="Roboto Bold" pitchFamily="34" charset="-122"/>
                <a:cs typeface="Roboto Bold" pitchFamily="34" charset="-120"/>
              </a:rPr>
              <a:t>"We're asking for one pilot department and 30 days to prove it live on real infrastructure. Not a slide deck."</a:t>
            </a:r>
            <a:endParaRPr lang="en-US" sz="1300" dirty="0"/>
          </a:p>
        </p:txBody>
      </p:sp>
      <p:sp>
        <p:nvSpPr>
          <p:cNvPr id="7" name="Shape 5"/>
          <p:cNvSpPr/>
          <p:nvPr/>
        </p:nvSpPr>
        <p:spPr>
          <a:xfrm>
            <a:off x="661475" y="3640237"/>
            <a:ext cx="19050" cy="636687"/>
          </a:xfrm>
          <a:prstGeom prst="roundRect">
            <a:avLst>
              <a:gd name="adj" fmla="val 49999"/>
            </a:avLst>
          </a:prstGeom>
          <a:solidFill>
            <a:srgbClr val="F2F2F3"/>
          </a:solidFill>
          <a:ln/>
        </p:spPr>
      </p:sp>
      <p:sp>
        <p:nvSpPr>
          <p:cNvPr id="8" name="Shape 6"/>
          <p:cNvSpPr/>
          <p:nvPr/>
        </p:nvSpPr>
        <p:spPr>
          <a:xfrm>
            <a:off x="661475" y="4504234"/>
            <a:ext cx="10868745" cy="19050"/>
          </a:xfrm>
          <a:prstGeom prst="roundRect">
            <a:avLst>
              <a:gd name="adj" fmla="val 49999"/>
            </a:avLst>
          </a:prstGeom>
          <a:solidFill>
            <a:srgbClr val="E5E0DF">
              <a:alpha val="50000"/>
            </a:srgbClr>
          </a:solidFill>
          <a:ln/>
        </p:spPr>
      </p:sp>
      <p:sp>
        <p:nvSpPr>
          <p:cNvPr id="9" name="Text 7"/>
          <p:cNvSpPr/>
          <p:nvPr/>
        </p:nvSpPr>
        <p:spPr>
          <a:xfrm>
            <a:off x="661475" y="4750594"/>
            <a:ext cx="11478330" cy="264616"/>
          </a:xfrm>
          <a:prstGeom prst="rect">
            <a:avLst/>
          </a:prstGeom>
          <a:noFill/>
          <a:ln/>
        </p:spPr>
        <p:txBody>
          <a:bodyPr wrap="none" lIns="0" tIns="0" rIns="0" bIns="0" rtlCol="0" anchor="t"/>
          <a:lstStyle/>
          <a:p>
            <a:pPr algn="l" indent="0" marL="0">
              <a:lnSpc>
                <a:spcPct val="133000"/>
              </a:lnSpc>
              <a:buNone/>
            </a:pPr>
            <a:r>
              <a:rPr lang="en-US" sz="1300" i="1" dirty="0">
                <a:solidFill>
                  <a:srgbClr val="E5E0DF"/>
                </a:solidFill>
                <a:latin typeface="Roboto Light" pitchFamily="34" charset="0"/>
                <a:ea typeface="Roboto Light" pitchFamily="34" charset="-122"/>
                <a:cs typeface="Roboto Light" pitchFamily="34" charset="-120"/>
              </a:rPr>
              <a:t>Built for Sentinels, because the next threat won't wait for departments to compare notes.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2026-09-14T21:50:04Z</dcterms:created>
  <dcterms:modified xsi:type="dcterms:W3CDTF">2026-09-14T21:50:04Z</dcterms:modified>
</cp:coreProperties>
</file>